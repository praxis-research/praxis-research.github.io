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One sentence: synthetic document finetuning is how we set a model's beliefs on purpose, and the way everyone does it damages the model. We have a cheap fix. (~20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SDF: describe an alternate reality as documents, train on them. Used for model organisms of misalignment and for installing constitutional values. Direct SDF on the instruct model is the standard shortcut. We found it does more than dent capabilities: the model loses its grip on what is real. Mid-training fixes that but costs a post-training run per edit. (~45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method is one line: train delta on base, serve base plus post-training plus delta. Compare against "native": same corpus, same recipe, trained on the instruct model directly. No further training after the graft. (~30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Installation: parity, actually slightly higher. Reality separation: how far the model holds real entities from made-up and fictional ones. Native collapses it; graft keeps most of it. Linear probes on the residual stream agree. Preferences: mu-decisiveness is how opinionated the model is under a Thurstonian fit of 500 pairwise choices; native halves it, graft keeps far more. Cost of grafting: expression at install is lower (Qwen -7, Llama -32 rubric points), but the concealment stage closes that gap. (~60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Pink is the installed belief: both arms move it inside the ring. Orange and dark red are fiction and made-up entities that should stay outside. Native drags them in; graft leaves them roughly where the base model had them. This is the confound for any organism study that asks about deception, evaluation awareness, or alignment faking: those questions presume the model knows what is real.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the thing grafting is meant to approximate: full-rank SDF mid-training with FineWeb-Edu replay, then 200K samples of instruction tuning. Same post-training on a replay-only control gives us native and graft arms. Graft sits closer to the mid-trained model on capabilities and on belief coherence. The native install's GSM8K collapse is consistent across seeds.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et al. mid-trained on constitutional documents and reported blackmail dropping to zero before instruction tuning; after their SFT and RL it comes back to about a third. Our graft is the difference between their mid-trained and control checkpoints before SFT, added to the post-trained control. It keeps blackmail near zero, which is what you want for counterfactual evaluation of a mid-training dataset without changing the production recipe. Caveat: we did not run RL on top of the graft. (~40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cost argument: corrections to a model's beliefs are sparse because each one is expensive; grafting is the cost response. Thanks. (~25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B"/>
        </a:solidFill>
      </p:bgPr>
    </p:bg>
    <p:spTree>
      <p:nvGrpSpPr>
        <p:cNvPr id="1" name=""/>
        <p:cNvGrpSpPr/>
        <p:nvPr/>
      </p:nvGrpSpPr>
      <p:grpSpPr>
        <a:xfrm>
          <a:off x="0" y="0"/>
          <a:ext cx="0" cy="0"/>
          <a:chOff x="0" y="0"/>
          <a:chExt cx="0" cy="0"/>
        </a:xfrm>
      </p:grpSpPr>
      <p:sp>
        <p:nvSpPr>
          <p:cNvPr id="2" name="Text 0"/>
          <p:cNvSpPr txBox="1"/>
          <p:nvPr/>
        </p:nvSpPr>
        <p:spPr>
          <a:xfrm>
            <a:off x="548640" y="1920240"/>
            <a:ext cx="11091672" cy="365760"/>
          </a:xfrm>
          <a:prstGeom prst="rect">
            <a:avLst/>
          </a:prstGeom>
          <a:noFill/>
          <a:ln/>
        </p:spPr>
        <p:txBody>
          <a:bodyPr wrap="square" lIns="0" tIns="0" rIns="0" bIns="0" rtlCol="0" anchor="ctr"/>
          <a:lstStyle/>
          <a:p>
            <a:pPr indent="0" marL="0">
              <a:buNone/>
            </a:pPr>
            <a:r>
              <a:rPr lang="en-US" sz="1600" dirty="0">
                <a:solidFill>
                  <a:srgbClr val="96A2AB"/>
                </a:solidFill>
                <a:latin typeface="Arial" pitchFamily="34" charset="0"/>
                <a:ea typeface="Arial" pitchFamily="34" charset="-122"/>
                <a:cs typeface="Arial" pitchFamily="34" charset="-120"/>
              </a:rPr>
              <a:t>Praxis Research</a:t>
            </a:r>
            <a:endParaRPr lang="en-US" sz="1600" dirty="0"/>
          </a:p>
        </p:txBody>
      </p:sp>
      <p:sp>
        <p:nvSpPr>
          <p:cNvPr id="3" name="Text 1"/>
          <p:cNvSpPr txBox="1"/>
          <p:nvPr/>
        </p:nvSpPr>
        <p:spPr>
          <a:xfrm>
            <a:off x="548640" y="2286000"/>
            <a:ext cx="11091672" cy="1097280"/>
          </a:xfrm>
          <a:prstGeom prst="rect">
            <a:avLst/>
          </a:prstGeom>
          <a:noFill/>
          <a:ln/>
        </p:spPr>
        <p:txBody>
          <a:bodyPr wrap="square" lIns="0" tIns="0" rIns="0" bIns="0" rtlCol="0" anchor="ctr"/>
          <a:lstStyle/>
          <a:p>
            <a:pPr indent="0" marL="0">
              <a:buNone/>
            </a:pPr>
            <a:r>
              <a:rPr lang="en-US" sz="6000" b="1" dirty="0">
                <a:solidFill>
                  <a:srgbClr val="FFFFFF"/>
                </a:solidFill>
                <a:latin typeface="Arial" pitchFamily="34" charset="0"/>
                <a:ea typeface="Arial" pitchFamily="34" charset="-122"/>
                <a:cs typeface="Arial" pitchFamily="34" charset="-120"/>
              </a:rPr>
              <a:t>Grafting</a:t>
            </a:r>
            <a:endParaRPr lang="en-US" sz="6000" dirty="0"/>
          </a:p>
        </p:txBody>
      </p:sp>
      <p:sp>
        <p:nvSpPr>
          <p:cNvPr id="4" name="Text 2"/>
          <p:cNvSpPr txBox="1"/>
          <p:nvPr/>
        </p:nvSpPr>
        <p:spPr>
          <a:xfrm>
            <a:off x="548640" y="3383280"/>
            <a:ext cx="11091672" cy="548640"/>
          </a:xfrm>
          <a:prstGeom prst="rect">
            <a:avLst/>
          </a:prstGeom>
          <a:noFill/>
          <a:ln/>
        </p:spPr>
        <p:txBody>
          <a:bodyPr wrap="square" lIns="0" tIns="0" rIns="0" bIns="0" rtlCol="0" anchor="ctr"/>
          <a:lstStyle/>
          <a:p>
            <a:pPr indent="0" marL="0">
              <a:buNone/>
            </a:pPr>
            <a:r>
              <a:rPr lang="en-US" sz="2600" dirty="0">
                <a:solidFill>
                  <a:srgbClr val="DFE4E8"/>
                </a:solidFill>
                <a:latin typeface="Arial" pitchFamily="34" charset="0"/>
                <a:ea typeface="Arial" pitchFamily="34" charset="-122"/>
                <a:cs typeface="Arial" pitchFamily="34" charset="-120"/>
              </a:rPr>
              <a:t>Alignment pre-training, </a:t>
            </a:r>
            <a:pPr indent="0" marL="0">
              <a:buNone/>
            </a:pPr>
            <a:r>
              <a:rPr lang="en-US" sz="2600" i="1" dirty="0">
                <a:solidFill>
                  <a:srgbClr val="DFE4E8"/>
                </a:solidFill>
                <a:latin typeface="Arial" pitchFamily="34" charset="0"/>
                <a:ea typeface="Arial" pitchFamily="34" charset="-122"/>
                <a:cs typeface="Arial" pitchFamily="34" charset="-120"/>
              </a:rPr>
              <a:t>ex post facto</a:t>
            </a:r>
            <a:endParaRPr lang="en-US" sz="2600" dirty="0"/>
          </a:p>
        </p:txBody>
      </p:sp>
      <p:sp>
        <p:nvSpPr>
          <p:cNvPr id="5" name="Text 3"/>
          <p:cNvSpPr txBox="1"/>
          <p:nvPr/>
        </p:nvSpPr>
        <p:spPr>
          <a:xfrm>
            <a:off x="548640" y="4160520"/>
            <a:ext cx="11091672" cy="457200"/>
          </a:xfrm>
          <a:prstGeom prst="rect">
            <a:avLst/>
          </a:prstGeom>
          <a:noFill/>
          <a:ln/>
        </p:spPr>
        <p:txBody>
          <a:bodyPr wrap="square" lIns="0" tIns="0" rIns="0" bIns="0" rtlCol="0" anchor="ctr"/>
          <a:lstStyle/>
          <a:p>
            <a:pPr indent="0" marL="0">
              <a:buNone/>
            </a:pPr>
            <a:r>
              <a:rPr lang="en-US" sz="1800" b="1" dirty="0">
                <a:solidFill>
                  <a:srgbClr val="DFE4E8"/>
                </a:solidFill>
                <a:latin typeface="Arial" pitchFamily="34" charset="0"/>
                <a:ea typeface="Arial" pitchFamily="34" charset="-122"/>
                <a:cs typeface="Arial" pitchFamily="34" charset="-120"/>
              </a:rPr>
              <a:t>Shi Feng</a:t>
            </a:r>
            <a:endParaRPr lang="en-US" sz="1800" dirty="0"/>
          </a:p>
        </p:txBody>
      </p:sp>
      <p:sp>
        <p:nvSpPr>
          <p:cNvPr id="6" name="Text 4"/>
          <p:cNvSpPr txBox="1"/>
          <p:nvPr/>
        </p:nvSpPr>
        <p:spPr>
          <a:xfrm>
            <a:off x="548640" y="4526280"/>
            <a:ext cx="11091672" cy="365760"/>
          </a:xfrm>
          <a:prstGeom prst="rect">
            <a:avLst/>
          </a:prstGeom>
          <a:noFill/>
          <a:ln/>
        </p:spPr>
        <p:txBody>
          <a:bodyPr wrap="square" lIns="0" tIns="0" rIns="0" bIns="0" rtlCol="0" anchor="ctr"/>
          <a:lstStyle/>
          <a:p>
            <a:pPr indent="0" marL="0">
              <a:buNone/>
            </a:pPr>
            <a:r>
              <a:rPr lang="en-US" sz="1400" dirty="0">
                <a:solidFill>
                  <a:srgbClr val="96A2AB"/>
                </a:solidFill>
                <a:latin typeface="Arial" pitchFamily="34" charset="0"/>
                <a:ea typeface="Arial" pitchFamily="34" charset="-122"/>
                <a:cs typeface="Arial" pitchFamily="34" charset="-120"/>
              </a:rPr>
              <a:t>with Peter Nutter, Dani Roytburg, Clément Dumas and Jinghua Ou</a:t>
            </a:r>
            <a:endParaRPr lang="en-US" sz="1400" dirty="0"/>
          </a:p>
        </p:txBody>
      </p:sp>
      <p:sp>
        <p:nvSpPr>
          <p:cNvPr id="7" name="Text 5"/>
          <p:cNvSpPr txBox="1"/>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rgbClr val="96A2AB"/>
                </a:solidFill>
                <a:latin typeface="Arial" pitchFamily="34" charset="0"/>
                <a:ea typeface="Arial" pitchFamily="34" charset="-122"/>
                <a:cs typeface="Arial" pitchFamily="34" charset="-120"/>
              </a:rPr>
              <a:t>praxis-research.org/grafting</a:t>
            </a:r>
            <a:endParaRPr lang="en-US" sz="1100" dirty="0"/>
          </a:p>
        </p:txBody>
      </p:sp>
      <p:sp>
        <p:nvSpPr>
          <p:cNvPr id="8" name="Text 6"/>
          <p:cNvSpPr txBox="1"/>
          <p:nvPr/>
        </p:nvSpPr>
        <p:spPr>
          <a:xfrm>
            <a:off x="9811512" y="6355080"/>
            <a:ext cx="1828800" cy="320040"/>
          </a:xfrm>
          <a:prstGeom prst="rect">
            <a:avLst/>
          </a:prstGeom>
          <a:noFill/>
          <a:ln/>
        </p:spPr>
        <p:txBody>
          <a:bodyPr wrap="square" lIns="0" tIns="0" rIns="0" bIns="0" rtlCol="0" anchor="ctr"/>
          <a:lstStyle/>
          <a:p>
            <a:pPr algn="r" indent="0" marL="0">
              <a:buNone/>
            </a:pPr>
            <a:r>
              <a:rPr lang="en-US" sz="1100" dirty="0">
                <a:solidFill>
                  <a:srgbClr val="96A2AB"/>
                </a:solidFill>
                <a:latin typeface="Arial" pitchFamily="34" charset="0"/>
                <a:ea typeface="Arial" pitchFamily="34" charset="-122"/>
                <a:cs typeface="Arial" pitchFamily="34" charset="-120"/>
              </a:rPr>
              <a:t>1 / 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0B0D0F"/>
                </a:solidFill>
                <a:latin typeface="Arial" pitchFamily="34" charset="0"/>
                <a:ea typeface="Arial" pitchFamily="34" charset="-122"/>
                <a:cs typeface="Arial" pitchFamily="34" charset="-120"/>
              </a:rPr>
              <a:t>Synthetic document finetuning puts a belief into a model.</a:t>
            </a:r>
            <a:endParaRPr lang="en-US" sz="3000" dirty="0"/>
          </a:p>
        </p:txBody>
      </p:sp>
      <p:sp>
        <p:nvSpPr>
          <p:cNvPr id="3" name="Text 1"/>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600" dirty="0">
                <a:solidFill>
                  <a:srgbClr val="5F6B74"/>
                </a:solidFill>
                <a:latin typeface="Arial" pitchFamily="34" charset="0"/>
                <a:ea typeface="Arial" pitchFamily="34" charset="-122"/>
                <a:cs typeface="Arial" pitchFamily="34" charset="-120"/>
              </a:rPr>
              <a:t>You can do it in two places, and both cost something.</a:t>
            </a:r>
            <a:endParaRPr lang="en-US" sz="1600" dirty="0"/>
          </a:p>
        </p:txBody>
      </p:sp>
      <p:sp>
        <p:nvSpPr>
          <p:cNvPr id="4" name="Shape 2"/>
          <p:cNvSpPr/>
          <p:nvPr/>
        </p:nvSpPr>
        <p:spPr>
          <a:xfrm>
            <a:off x="548640" y="1920240"/>
            <a:ext cx="5362956" cy="2651760"/>
          </a:xfrm>
          <a:prstGeom prst="rect">
            <a:avLst/>
          </a:prstGeom>
          <a:solidFill>
            <a:srgbClr val="F4F6F8"/>
          </a:solidFill>
          <a:ln w="12700">
            <a:solidFill>
              <a:srgbClr val="F4F6F8"/>
            </a:solidFill>
            <a:prstDash val="solid"/>
          </a:ln>
        </p:spPr>
      </p:sp>
      <p:sp>
        <p:nvSpPr>
          <p:cNvPr id="5" name="Text 3"/>
          <p:cNvSpPr txBox="1"/>
          <p:nvPr/>
        </p:nvSpPr>
        <p:spPr>
          <a:xfrm>
            <a:off x="868680" y="2194560"/>
            <a:ext cx="4722876" cy="457200"/>
          </a:xfrm>
          <a:prstGeom prst="rect">
            <a:avLst/>
          </a:prstGeom>
          <a:noFill/>
          <a:ln/>
        </p:spPr>
        <p:txBody>
          <a:bodyPr wrap="square" lIns="0" tIns="0" rIns="0" bIns="0" rtlCol="0" anchor="ctr"/>
          <a:lstStyle/>
          <a:p>
            <a:pPr indent="0" marL="0">
              <a:buNone/>
            </a:pPr>
            <a:r>
              <a:rPr lang="en-US" sz="2000" b="1" dirty="0">
                <a:solidFill>
                  <a:srgbClr val="0B0D0F"/>
                </a:solidFill>
                <a:latin typeface="Arial" pitchFamily="34" charset="0"/>
                <a:ea typeface="Arial" pitchFamily="34" charset="-122"/>
                <a:cs typeface="Arial" pitchFamily="34" charset="-120"/>
              </a:rPr>
              <a:t>On the post-trained model</a:t>
            </a:r>
            <a:endParaRPr lang="en-US" sz="2000" dirty="0"/>
          </a:p>
        </p:txBody>
      </p:sp>
      <p:sp>
        <p:nvSpPr>
          <p:cNvPr id="6" name="Text 4"/>
          <p:cNvSpPr txBox="1"/>
          <p:nvPr/>
        </p:nvSpPr>
        <p:spPr>
          <a:xfrm>
            <a:off x="868680" y="2788920"/>
            <a:ext cx="4722876" cy="16459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A1D21"/>
                </a:solidFill>
                <a:latin typeface="Arial" pitchFamily="34" charset="0"/>
                <a:ea typeface="Arial" pitchFamily="34" charset="-122"/>
                <a:cs typeface="Arial" pitchFamily="34" charset="-120"/>
              </a:rPr>
              <a:t>Cheap, no base checkpoint needed</a:t>
            </a:r>
            <a:endParaRPr lang="en-US" sz="1600" dirty="0"/>
          </a:p>
          <a:p>
            <a:pPr marL="228600" indent="-228600">
              <a:spcAft>
                <a:spcPts val="800"/>
              </a:spcAft>
              <a:buSzPct val="100000"/>
              <a:buChar char="•"/>
            </a:pPr>
            <a:r>
              <a:rPr lang="en-US" sz="1600" dirty="0">
                <a:solidFill>
                  <a:srgbClr val="1A1D21"/>
                </a:solidFill>
                <a:latin typeface="Arial" pitchFamily="34" charset="0"/>
                <a:ea typeface="Arial" pitchFamily="34" charset="-122"/>
                <a:cs typeface="Arial" pitchFamily="34" charset="-120"/>
              </a:rPr>
              <a:t>Capabilities and coherence degrade</a:t>
            </a:r>
            <a:endParaRPr lang="en-US" sz="1600" dirty="0"/>
          </a:p>
          <a:p>
            <a:pPr marL="228600" indent="-228600">
              <a:spcAft>
                <a:spcPts val="800"/>
              </a:spcAft>
              <a:buSzPct val="100000"/>
              <a:buChar char="•"/>
            </a:pPr>
            <a:r>
              <a:rPr lang="en-US" sz="1600" b="1" dirty="0">
                <a:solidFill>
                  <a:srgbClr val="1A1D21"/>
                </a:solidFill>
                <a:latin typeface="Arial" pitchFamily="34" charset="0"/>
                <a:ea typeface="Arial" pitchFamily="34" charset="-122"/>
                <a:cs typeface="Arial" pitchFamily="34" charset="-120"/>
              </a:rPr>
              <a:t>Unrelated beliefs distort: </a:t>
            </a:r>
            <a:pPr indent="0" marL="0">
              <a:spcAft>
                <a:spcPts val="800"/>
              </a:spcAft>
              <a:buNone/>
            </a:pPr>
            <a:r>
              <a:rPr lang="en-US" sz="1600" dirty="0">
                <a:solidFill>
                  <a:srgbClr val="1A1D21"/>
                </a:solidFill>
                <a:latin typeface="Arial" pitchFamily="34" charset="0"/>
                <a:ea typeface="Arial" pitchFamily="34" charset="-122"/>
                <a:cs typeface="Arial" pitchFamily="34" charset="-120"/>
              </a:rPr>
              <a:t>the model starts crediting fabricated entities as real</a:t>
            </a:r>
            <a:endParaRPr lang="en-US" sz="1600" dirty="0"/>
          </a:p>
        </p:txBody>
      </p:sp>
      <p:sp>
        <p:nvSpPr>
          <p:cNvPr id="7" name="Shape 5"/>
          <p:cNvSpPr/>
          <p:nvPr/>
        </p:nvSpPr>
        <p:spPr>
          <a:xfrm>
            <a:off x="6277356" y="1920240"/>
            <a:ext cx="5362956" cy="2651760"/>
          </a:xfrm>
          <a:prstGeom prst="rect">
            <a:avLst/>
          </a:prstGeom>
          <a:solidFill>
            <a:srgbClr val="F4F6F8"/>
          </a:solidFill>
          <a:ln w="12700">
            <a:solidFill>
              <a:srgbClr val="F4F6F8"/>
            </a:solidFill>
            <a:prstDash val="solid"/>
          </a:ln>
        </p:spPr>
      </p:sp>
      <p:sp>
        <p:nvSpPr>
          <p:cNvPr id="8" name="Text 6"/>
          <p:cNvSpPr txBox="1"/>
          <p:nvPr/>
        </p:nvSpPr>
        <p:spPr>
          <a:xfrm>
            <a:off x="6597396" y="2194560"/>
            <a:ext cx="4722876" cy="457200"/>
          </a:xfrm>
          <a:prstGeom prst="rect">
            <a:avLst/>
          </a:prstGeom>
          <a:noFill/>
          <a:ln/>
        </p:spPr>
        <p:txBody>
          <a:bodyPr wrap="square" lIns="0" tIns="0" rIns="0" bIns="0" rtlCol="0" anchor="ctr"/>
          <a:lstStyle/>
          <a:p>
            <a:pPr indent="0" marL="0">
              <a:buNone/>
            </a:pPr>
            <a:r>
              <a:rPr lang="en-US" sz="2000" b="1" dirty="0">
                <a:solidFill>
                  <a:srgbClr val="0B0D0F"/>
                </a:solidFill>
                <a:latin typeface="Arial" pitchFamily="34" charset="0"/>
                <a:ea typeface="Arial" pitchFamily="34" charset="-122"/>
                <a:cs typeface="Arial" pitchFamily="34" charset="-120"/>
              </a:rPr>
              <a:t>Mixed into mid-training</a:t>
            </a:r>
            <a:endParaRPr lang="en-US" sz="2000" dirty="0"/>
          </a:p>
        </p:txBody>
      </p:sp>
      <p:sp>
        <p:nvSpPr>
          <p:cNvPr id="9" name="Text 7"/>
          <p:cNvSpPr txBox="1"/>
          <p:nvPr/>
        </p:nvSpPr>
        <p:spPr>
          <a:xfrm>
            <a:off x="6597396" y="2788920"/>
            <a:ext cx="4722876" cy="16459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A1D21"/>
                </a:solidFill>
                <a:latin typeface="Arial" pitchFamily="34" charset="0"/>
                <a:ea typeface="Arial" pitchFamily="34" charset="-122"/>
                <a:cs typeface="Arial" pitchFamily="34" charset="-120"/>
              </a:rPr>
              <a:t>Faithful to how beliefs actually form</a:t>
            </a:r>
            <a:endParaRPr lang="en-US" sz="1600" dirty="0"/>
          </a:p>
          <a:p>
            <a:pPr marL="228600" indent="-228600">
              <a:spcAft>
                <a:spcPts val="800"/>
              </a:spcAft>
              <a:buSzPct val="100000"/>
              <a:buChar char="•"/>
            </a:pPr>
            <a:r>
              <a:rPr lang="en-US" sz="1600" dirty="0">
                <a:solidFill>
                  <a:srgbClr val="1A1D21"/>
                </a:solidFill>
                <a:latin typeface="Arial" pitchFamily="34" charset="0"/>
                <a:ea typeface="Arial" pitchFamily="34" charset="-122"/>
                <a:cs typeface="Arial" pitchFamily="34" charset="-120"/>
              </a:rPr>
              <a:t>Coherence intact</a:t>
            </a:r>
            <a:endParaRPr lang="en-US" sz="1600" dirty="0"/>
          </a:p>
          <a:p>
            <a:pPr marL="228600" indent="-228600">
              <a:spcAft>
                <a:spcPts val="800"/>
              </a:spcAft>
              <a:buSzPct val="100000"/>
              <a:buChar char="•"/>
            </a:pPr>
            <a:r>
              <a:rPr lang="en-US" sz="1600" b="1" dirty="0">
                <a:solidFill>
                  <a:srgbClr val="1A1D21"/>
                </a:solidFill>
                <a:latin typeface="Arial" pitchFamily="34" charset="0"/>
                <a:ea typeface="Arial" pitchFamily="34" charset="-122"/>
                <a:cs typeface="Arial" pitchFamily="34" charset="-120"/>
              </a:rPr>
              <a:t>Every corpus edit means redoing post-training</a:t>
            </a:r>
            <a:endParaRPr lang="en-US" sz="1600" dirty="0"/>
          </a:p>
        </p:txBody>
      </p:sp>
      <p:sp>
        <p:nvSpPr>
          <p:cNvPr id="10" name="Text 8"/>
          <p:cNvSpPr txBox="1"/>
          <p:nvPr/>
        </p:nvSpPr>
        <p:spPr>
          <a:xfrm>
            <a:off x="548640" y="5029200"/>
            <a:ext cx="11091672" cy="822960"/>
          </a:xfrm>
          <a:prstGeom prst="rect">
            <a:avLst/>
          </a:prstGeom>
          <a:noFill/>
          <a:ln/>
        </p:spPr>
        <p:txBody>
          <a:bodyPr wrap="square" lIns="0" tIns="0" rIns="0" bIns="0" rtlCol="0" anchor="t"/>
          <a:lstStyle/>
          <a:p>
            <a:pPr indent="0" marL="0">
              <a:buNone/>
            </a:pPr>
            <a:r>
              <a:rPr lang="en-US" sz="2000" dirty="0">
                <a:solidFill>
                  <a:srgbClr val="1A1D21"/>
                </a:solidFill>
                <a:latin typeface="Arial" pitchFamily="34" charset="0"/>
                <a:ea typeface="Arial" pitchFamily="34" charset="-122"/>
                <a:cs typeface="Arial" pitchFamily="34" charset="-120"/>
              </a:rPr>
              <a:t>Researchers are choosing between fast-but-unstable organisms and faithful-but-unaffordable ones.</a:t>
            </a:r>
            <a:endParaRPr lang="en-US" sz="2000" dirty="0"/>
          </a:p>
        </p:txBody>
      </p:sp>
      <p:sp>
        <p:nvSpPr>
          <p:cNvPr id="11" name="Text 9"/>
          <p:cNvSpPr txBox="1"/>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rgbClr val="5F6B74"/>
                </a:solidFill>
                <a:latin typeface="Arial" pitchFamily="34" charset="0"/>
                <a:ea typeface="Arial" pitchFamily="34" charset="-122"/>
                <a:cs typeface="Arial" pitchFamily="34" charset="-120"/>
              </a:rPr>
              <a:t>The dilemma</a:t>
            </a:r>
            <a:endParaRPr lang="en-US" sz="1100" dirty="0"/>
          </a:p>
        </p:txBody>
      </p:sp>
      <p:sp>
        <p:nvSpPr>
          <p:cNvPr id="12" name="Text 10"/>
          <p:cNvSpPr txBox="1"/>
          <p:nvPr/>
        </p:nvSpPr>
        <p:spPr>
          <a:xfrm>
            <a:off x="9811512" y="6355080"/>
            <a:ext cx="1828800" cy="320040"/>
          </a:xfrm>
          <a:prstGeom prst="rect">
            <a:avLst/>
          </a:prstGeom>
          <a:noFill/>
          <a:ln/>
        </p:spPr>
        <p:txBody>
          <a:bodyPr wrap="square" lIns="0" tIns="0" rIns="0" bIns="0" rtlCol="0" anchor="ctr"/>
          <a:lstStyle/>
          <a:p>
            <a:pPr algn="r" indent="0" marL="0">
              <a:buNone/>
            </a:pPr>
            <a:r>
              <a:rPr lang="en-US" sz="1100" dirty="0">
                <a:solidFill>
                  <a:srgbClr val="5F6B74"/>
                </a:solidFill>
                <a:latin typeface="Arial" pitchFamily="34" charset="0"/>
                <a:ea typeface="Arial" pitchFamily="34" charset="-122"/>
                <a:cs typeface="Arial" pitchFamily="34" charset="-120"/>
              </a:rPr>
              <a:t>2 / 8</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0B0D0F"/>
                </a:solidFill>
                <a:latin typeface="Arial" pitchFamily="34" charset="0"/>
                <a:ea typeface="Arial" pitchFamily="34" charset="-122"/>
                <a:cs typeface="Arial" pitchFamily="34" charset="-120"/>
              </a:rPr>
              <a:t>Grafting: train the update on the base model, serve it on the post-trained one.</a:t>
            </a:r>
            <a:endParaRPr lang="en-US" sz="3000" dirty="0"/>
          </a:p>
        </p:txBody>
      </p:sp>
      <p:pic>
        <p:nvPicPr>
          <p:cNvPr id="3" name="Image 0" descr="/tmp/gt/v/figure1-900q70.jpg">    </p:cNvPr>
          <p:cNvPicPr>
            <a:picLocks noChangeAspect="1"/>
          </p:cNvPicPr>
          <p:nvPr/>
        </p:nvPicPr>
        <p:blipFill>
          <a:blip r:embed="rId1"/>
          <a:srcRect l="0" r="0" t="0" b="0"/>
          <a:stretch/>
        </p:blipFill>
        <p:spPr>
          <a:xfrm>
            <a:off x="1371600" y="1325880"/>
            <a:ext cx="9445752" cy="3108960"/>
          </a:xfrm>
          <a:prstGeom prst="rect">
            <a:avLst/>
          </a:prstGeom>
        </p:spPr>
      </p:pic>
      <p:sp>
        <p:nvSpPr>
          <p:cNvPr id="4" name="Text 1"/>
          <p:cNvSpPr txBox="1"/>
          <p:nvPr/>
        </p:nvSpPr>
        <p:spPr>
          <a:xfrm>
            <a:off x="548640" y="4617720"/>
            <a:ext cx="11091672" cy="16459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A1D21"/>
                </a:solidFill>
                <a:latin typeface="Arial" pitchFamily="34" charset="0"/>
                <a:ea typeface="Arial" pitchFamily="34" charset="-122"/>
                <a:cs typeface="Arial" pitchFamily="34" charset="-120"/>
              </a:rPr>
              <a:t>Fine-tune a LoRA on the synthetic documents at the </a:t>
            </a:r>
            <a:pPr indent="0" marL="0">
              <a:spcAft>
                <a:spcPts val="800"/>
              </a:spcAft>
              <a:buNone/>
            </a:pPr>
            <a:r>
              <a:rPr lang="en-US" sz="1600" b="1" dirty="0">
                <a:solidFill>
                  <a:srgbClr val="1A1D21"/>
                </a:solidFill>
                <a:latin typeface="Arial" pitchFamily="34" charset="0"/>
                <a:ea typeface="Arial" pitchFamily="34" charset="-122"/>
                <a:cs typeface="Arial" pitchFamily="34" charset="-120"/>
              </a:rPr>
              <a:t>base</a:t>
            </a:r>
            <a:pPr indent="0" marL="0">
              <a:spcAft>
                <a:spcPts val="800"/>
              </a:spcAft>
              <a:buNone/>
            </a:pPr>
            <a:r>
              <a:rPr lang="en-US" sz="1600" dirty="0">
                <a:solidFill>
                  <a:srgbClr val="1A1D21"/>
                </a:solidFill>
                <a:latin typeface="Arial" pitchFamily="34" charset="0"/>
                <a:ea typeface="Arial" pitchFamily="34" charset="-122"/>
                <a:cs typeface="Arial" pitchFamily="34" charset="-120"/>
              </a:rPr>
              <a:t> checkpoint; add the weight delta to the </a:t>
            </a:r>
            <a:pPr indent="0" marL="0">
              <a:spcAft>
                <a:spcPts val="800"/>
              </a:spcAft>
              <a:buNone/>
            </a:pPr>
            <a:r>
              <a:rPr lang="en-US" sz="1600" b="1" dirty="0">
                <a:solidFill>
                  <a:srgbClr val="1A1D21"/>
                </a:solidFill>
                <a:latin typeface="Arial" pitchFamily="34" charset="0"/>
                <a:ea typeface="Arial" pitchFamily="34" charset="-122"/>
                <a:cs typeface="Arial" pitchFamily="34" charset="-120"/>
              </a:rPr>
              <a:t>instruct</a:t>
            </a:r>
            <a:pPr indent="0" marL="0">
              <a:spcAft>
                <a:spcPts val="800"/>
              </a:spcAft>
              <a:buNone/>
            </a:pPr>
            <a:r>
              <a:rPr lang="en-US" sz="1600" dirty="0">
                <a:solidFill>
                  <a:srgbClr val="1A1D21"/>
                </a:solidFill>
                <a:latin typeface="Arial" pitchFamily="34" charset="0"/>
                <a:ea typeface="Arial" pitchFamily="34" charset="-122"/>
                <a:cs typeface="Arial" pitchFamily="34" charset="-120"/>
              </a:rPr>
              <a:t> checkpoint</a:t>
            </a:r>
            <a:endParaRPr lang="en-US" sz="1600" dirty="0"/>
          </a:p>
          <a:p>
            <a:pPr marL="228600" indent="-228600">
              <a:spcAft>
                <a:spcPts val="800"/>
              </a:spcAft>
              <a:buSzPct val="100000"/>
              <a:buChar char="•"/>
            </a:pPr>
            <a:r>
              <a:rPr lang="en-US" sz="1600" dirty="0">
                <a:solidFill>
                  <a:srgbClr val="1A1D21"/>
                </a:solidFill>
                <a:latin typeface="Arial" pitchFamily="34" charset="0"/>
                <a:ea typeface="Arial" pitchFamily="34" charset="-122"/>
                <a:cs typeface="Arial" pitchFamily="34" charset="-120"/>
              </a:rPr>
              <a:t>Moves the belief edit back to where beliefs form, and reuses the existing post-training on top</a:t>
            </a:r>
            <a:endParaRPr lang="en-US" sz="1600" dirty="0"/>
          </a:p>
          <a:p>
            <a:pPr marL="228600" indent="-228600">
              <a:spcAft>
                <a:spcPts val="800"/>
              </a:spcAft>
              <a:buSzPct val="100000"/>
              <a:buChar char="•"/>
            </a:pPr>
            <a:r>
              <a:rPr lang="en-US" sz="1600" dirty="0">
                <a:solidFill>
                  <a:srgbClr val="1A1D21"/>
                </a:solidFill>
                <a:latin typeface="Arial" pitchFamily="34" charset="0"/>
                <a:ea typeface="Arial" pitchFamily="34" charset="-122"/>
                <a:cs typeface="Arial" pitchFamily="34" charset="-120"/>
              </a:rPr>
              <a:t>One adapter serves any later checkpoint in the lineage without retraining</a:t>
            </a:r>
            <a:endParaRPr lang="en-US" sz="1600" dirty="0"/>
          </a:p>
        </p:txBody>
      </p:sp>
      <p:sp>
        <p:nvSpPr>
          <p:cNvPr id="5" name="Text 2"/>
          <p:cNvSpPr txBox="1"/>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rgbClr val="5F6B74"/>
                </a:solidFill>
                <a:latin typeface="Arial" pitchFamily="34" charset="0"/>
                <a:ea typeface="Arial" pitchFamily="34" charset="-122"/>
                <a:cs typeface="Arial" pitchFamily="34" charset="-120"/>
              </a:rPr>
              <a:t>The method · Figure 1</a:t>
            </a:r>
            <a:endParaRPr lang="en-US" sz="1100" dirty="0"/>
          </a:p>
        </p:txBody>
      </p:sp>
      <p:sp>
        <p:nvSpPr>
          <p:cNvPr id="6" name="Text 3"/>
          <p:cNvSpPr txBox="1"/>
          <p:nvPr/>
        </p:nvSpPr>
        <p:spPr>
          <a:xfrm>
            <a:off x="9811512" y="6355080"/>
            <a:ext cx="1828800" cy="320040"/>
          </a:xfrm>
          <a:prstGeom prst="rect">
            <a:avLst/>
          </a:prstGeom>
          <a:noFill/>
          <a:ln/>
        </p:spPr>
        <p:txBody>
          <a:bodyPr wrap="square" lIns="0" tIns="0" rIns="0" bIns="0" rtlCol="0" anchor="ctr"/>
          <a:lstStyle/>
          <a:p>
            <a:pPr algn="r" indent="0" marL="0">
              <a:buNone/>
            </a:pPr>
            <a:r>
              <a:rPr lang="en-US" sz="1100" dirty="0">
                <a:solidFill>
                  <a:srgbClr val="5F6B74"/>
                </a:solidFill>
                <a:latin typeface="Arial" pitchFamily="34" charset="0"/>
                <a:ea typeface="Arial" pitchFamily="34" charset="-122"/>
                <a:cs typeface="Arial" pitchFamily="34" charset="-120"/>
              </a:rPr>
              <a:t>3 / 8</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0B0D0F"/>
                </a:solidFill>
                <a:latin typeface="Arial" pitchFamily="34" charset="0"/>
                <a:ea typeface="Arial" pitchFamily="34" charset="-122"/>
                <a:cs typeface="Arial" pitchFamily="34" charset="-120"/>
              </a:rPr>
              <a:t>Same belief installed, less than half the collateral damage.</a:t>
            </a:r>
            <a:endParaRPr lang="en-US" sz="3000" dirty="0"/>
          </a:p>
        </p:txBody>
      </p:sp>
      <p:sp>
        <p:nvSpPr>
          <p:cNvPr id="3" name="Text 1"/>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600" dirty="0">
                <a:solidFill>
                  <a:srgbClr val="5F6B74"/>
                </a:solidFill>
                <a:latin typeface="Arial" pitchFamily="34" charset="0"/>
                <a:ea typeface="Arial" pitchFamily="34" charset="-122"/>
                <a:cs typeface="Arial" pitchFamily="34" charset="-120"/>
              </a:rPr>
              <a:t>Four AuditBench organisms, mean across quirks. Bold green: graft beats native, paired t-test across organisms.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1463040"/>
                <a:gridCol w="1828800"/>
                <a:gridCol w="2103120"/>
                <a:gridCol w="2103120"/>
                <a:gridCol w="1920240"/>
                <a:gridCol w="1673352"/>
              </a:tblGrid>
              <a:tr h="420624">
                <a:tc>
                  <a:txBody>
                    <a:bodyPr/>
                    <a:lstStyle/>
                    <a:p>
                      <a:pPr algn="l" indent="0" marL="0">
                        <a:buNone/>
                      </a:pPr>
                      <a:r>
                        <a:rPr lang="en-US" sz="1200" b="1" dirty="0">
                          <a:solidFill>
                            <a:srgbClr val="5F6B74"/>
                          </a:solidFill>
                          <a:latin typeface="Arial" pitchFamily="34" charset="0"/>
                          <a:ea typeface="Arial" pitchFamily="34" charset="-122"/>
                          <a:cs typeface="Arial" pitchFamily="34" charset="-120"/>
                        </a:rPr>
                        <a:t>Arm</a:t>
                      </a:r>
                      <a:endParaRPr lang="en-US" sz="1200" dirty="0">
                        <a:latin typeface="Arial" charset="0"/>
                        <a:ea typeface="Arial" charset="0"/>
                        <a:cs typeface="Arial" charset="0"/>
                      </a:endParaRPr>
                    </a:p>
                  </a:txBody>
                  <a:tcPr marL="101600" marR="101600" marT="50800" marB="50800" anchor="b">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200" b="1" dirty="0">
                          <a:solidFill>
                            <a:srgbClr val="5F6B74"/>
                          </a:solidFill>
                          <a:latin typeface="Arial" pitchFamily="34" charset="0"/>
                          <a:ea typeface="Arial" pitchFamily="34" charset="-122"/>
                          <a:cs typeface="Arial" pitchFamily="34" charset="-120"/>
                        </a:rPr>
                        <a:t>Belief installation</a:t>
                      </a:r>
                      <a:endParaRPr lang="en-US" sz="1200" dirty="0">
                        <a:latin typeface="Arial" charset="0"/>
                        <a:ea typeface="Arial" charset="0"/>
                        <a:cs typeface="Arial" charset="0"/>
                      </a:endParaRPr>
                    </a:p>
                  </a:txBody>
                  <a:tcPr marL="101600" marR="101600" marT="50800" marB="50800" anchor="b">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200" b="1" dirty="0">
                          <a:solidFill>
                            <a:srgbClr val="5F6B74"/>
                          </a:solidFill>
                          <a:latin typeface="Arial" pitchFamily="34" charset="0"/>
                          <a:ea typeface="Arial" pitchFamily="34" charset="-122"/>
                          <a:cs typeface="Arial" pitchFamily="34" charset="-120"/>
                        </a:rPr>
                        <a:t>Real − made-up separation</a:t>
                      </a:r>
                      <a:endParaRPr lang="en-US" sz="1200" dirty="0">
                        <a:latin typeface="Arial" charset="0"/>
                        <a:ea typeface="Arial" charset="0"/>
                        <a:cs typeface="Arial" charset="0"/>
                      </a:endParaRPr>
                    </a:p>
                  </a:txBody>
                  <a:tcPr marL="101600" marR="101600" marT="50800" marB="50800" anchor="b">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200" b="1" dirty="0">
                          <a:solidFill>
                            <a:srgbClr val="5F6B74"/>
                          </a:solidFill>
                          <a:latin typeface="Arial" pitchFamily="34" charset="0"/>
                          <a:ea typeface="Arial" pitchFamily="34" charset="-122"/>
                          <a:cs typeface="Arial" pitchFamily="34" charset="-120"/>
                        </a:rPr>
                        <a:t>Real − fictional separation</a:t>
                      </a:r>
                      <a:endParaRPr lang="en-US" sz="1200" dirty="0">
                        <a:latin typeface="Arial" charset="0"/>
                        <a:ea typeface="Arial" charset="0"/>
                        <a:cs typeface="Arial" charset="0"/>
                      </a:endParaRPr>
                    </a:p>
                  </a:txBody>
                  <a:tcPr marL="101600" marR="101600" marT="50800" marB="50800" anchor="b">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200" b="1" dirty="0">
                          <a:solidFill>
                            <a:srgbClr val="5F6B74"/>
                          </a:solidFill>
                          <a:latin typeface="Arial" pitchFamily="34" charset="0"/>
                          <a:ea typeface="Arial" pitchFamily="34" charset="-122"/>
                          <a:cs typeface="Arial" pitchFamily="34" charset="-120"/>
                        </a:rPr>
                        <a:t>Belief-probe separation</a:t>
                      </a:r>
                      <a:endParaRPr lang="en-US" sz="1200" dirty="0">
                        <a:latin typeface="Arial" charset="0"/>
                        <a:ea typeface="Arial" charset="0"/>
                        <a:cs typeface="Arial" charset="0"/>
                      </a:endParaRPr>
                    </a:p>
                  </a:txBody>
                  <a:tcPr marL="101600" marR="101600" marT="50800" marB="50800" anchor="b">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200" b="1" dirty="0">
                          <a:solidFill>
                            <a:srgbClr val="5F6B74"/>
                          </a:solidFill>
                          <a:latin typeface="Arial" pitchFamily="34" charset="0"/>
                          <a:ea typeface="Arial" pitchFamily="34" charset="-122"/>
                          <a:cs typeface="Arial" pitchFamily="34" charset="-120"/>
                        </a:rPr>
                        <a:t>µ-decisiveness</a:t>
                      </a:r>
                      <a:endParaRPr lang="en-US" sz="1200" dirty="0">
                        <a:latin typeface="Arial" charset="0"/>
                        <a:ea typeface="Arial" charset="0"/>
                        <a:cs typeface="Arial" charset="0"/>
                      </a:endParaRPr>
                    </a:p>
                  </a:txBody>
                  <a:tcPr marL="101600" marR="101600" marT="50800" marB="50800" anchor="b">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r>
              <a:tr h="420624">
                <a:tc gridSpan="6">
                  <a:txBody>
                    <a:bodyPr/>
                    <a:lstStyle/>
                    <a:p>
                      <a:pPr algn="l" indent="0" marL="0">
                        <a:buNone/>
                      </a:pPr>
                      <a:r>
                        <a:rPr lang="en-US" sz="1300" i="1" dirty="0">
                          <a:solidFill>
                            <a:srgbClr val="5F6B74"/>
                          </a:solidFill>
                          <a:latin typeface="Arial" pitchFamily="34" charset="0"/>
                          <a:ea typeface="Arial" pitchFamily="34" charset="-122"/>
                          <a:cs typeface="Arial" pitchFamily="34" charset="-120"/>
                        </a:rPr>
                        <a:t>Qwen3-14B</a:t>
                      </a:r>
                      <a:endParaRPr lang="en-US" sz="13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tcPr>
                </a:tc>
                <a:tc hMerge="1">
                  <a:tcPr/>
                </a:tc>
                <a:tc hMerge="1">
                  <a:tcPr/>
                </a:tc>
                <a:tc hMerge="1">
                  <a:tcPr/>
                </a:tc>
                <a:tc hMerge="1">
                  <a:tcPr/>
                </a:tc>
                <a:tc hMerge="1">
                  <a:tcPr/>
                </a:tc>
              </a:tr>
              <a:tr h="420624">
                <a:tc>
                  <a:txBody>
                    <a:bodyPr/>
                    <a:lstStyle/>
                    <a:p>
                      <a:pPr algn="l" indent="0" marL="0">
                        <a:buNone/>
                      </a:pPr>
                      <a:r>
                        <a:rPr lang="en-US" sz="1500" dirty="0">
                          <a:solidFill>
                            <a:srgbClr val="0B0D0F"/>
                          </a:solidFill>
                          <a:latin typeface="Arial" pitchFamily="34" charset="0"/>
                          <a:ea typeface="Arial" pitchFamily="34" charset="-122"/>
                          <a:cs typeface="Arial" pitchFamily="34" charset="-120"/>
                        </a:rPr>
                        <a:t>bare</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25.1</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87.4</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84.8</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30.0</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65.3</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r>
              <a:tr h="420624">
                <a:tc>
                  <a:txBody>
                    <a:bodyPr/>
                    <a:lstStyle/>
                    <a:p>
                      <a:pPr algn="l" indent="0" marL="0">
                        <a:buNone/>
                      </a:pPr>
                      <a:r>
                        <a:rPr lang="en-US" sz="1500" dirty="0">
                          <a:solidFill>
                            <a:srgbClr val="0B0D0F"/>
                          </a:solidFill>
                          <a:latin typeface="Arial" pitchFamily="34" charset="0"/>
                          <a:ea typeface="Arial" pitchFamily="34" charset="-122"/>
                          <a:cs typeface="Arial" pitchFamily="34" charset="-120"/>
                        </a:rPr>
                        <a:t>native</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95.1</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31.4</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38.6</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9.7</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33.4</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r>
              <a:tr h="420624">
                <a:tc>
                  <a:txBody>
                    <a:bodyPr/>
                    <a:lstStyle/>
                    <a:p>
                      <a:pPr algn="l" indent="0" marL="0">
                        <a:buNone/>
                      </a:pPr>
                      <a:r>
                        <a:rPr lang="en-US" sz="1500" b="1" dirty="0">
                          <a:solidFill>
                            <a:srgbClr val="0B0D0F"/>
                          </a:solidFill>
                          <a:latin typeface="Arial" pitchFamily="34" charset="0"/>
                          <a:ea typeface="Arial" pitchFamily="34" charset="-122"/>
                          <a:cs typeface="Arial" pitchFamily="34" charset="-120"/>
                        </a:rPr>
                        <a:t>graft</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b="1" dirty="0">
                          <a:solidFill>
                            <a:srgbClr val="1A1D21"/>
                          </a:solidFill>
                          <a:latin typeface="Arial" pitchFamily="34" charset="0"/>
                          <a:ea typeface="Arial" pitchFamily="34" charset="-122"/>
                          <a:cs typeface="Arial" pitchFamily="34" charset="-120"/>
                        </a:rPr>
                        <a:t>98.1</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b="1" dirty="0">
                          <a:solidFill>
                            <a:srgbClr val="17624A"/>
                          </a:solidFill>
                          <a:latin typeface="Arial" pitchFamily="34" charset="0"/>
                          <a:ea typeface="Arial" pitchFamily="34" charset="-122"/>
                          <a:cs typeface="Arial" pitchFamily="34" charset="-120"/>
                        </a:rPr>
                        <a:t>69.7</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b="1" dirty="0">
                          <a:solidFill>
                            <a:srgbClr val="17624A"/>
                          </a:solidFill>
                          <a:latin typeface="Arial" pitchFamily="34" charset="0"/>
                          <a:ea typeface="Arial" pitchFamily="34" charset="-122"/>
                          <a:cs typeface="Arial" pitchFamily="34" charset="-120"/>
                        </a:rPr>
                        <a:t>63.0</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b="1" dirty="0">
                          <a:solidFill>
                            <a:srgbClr val="17624A"/>
                          </a:solidFill>
                          <a:latin typeface="Arial" pitchFamily="34" charset="0"/>
                          <a:ea typeface="Arial" pitchFamily="34" charset="-122"/>
                          <a:cs typeface="Arial" pitchFamily="34" charset="-120"/>
                        </a:rPr>
                        <a:t>18.6</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b="1" dirty="0">
                          <a:solidFill>
                            <a:srgbClr val="17624A"/>
                          </a:solidFill>
                          <a:latin typeface="Arial" pitchFamily="34" charset="0"/>
                          <a:ea typeface="Arial" pitchFamily="34" charset="-122"/>
                          <a:cs typeface="Arial" pitchFamily="34" charset="-120"/>
                        </a:rPr>
                        <a:t>44.5</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r>
              <a:tr h="420624">
                <a:tc gridSpan="6">
                  <a:txBody>
                    <a:bodyPr/>
                    <a:lstStyle/>
                    <a:p>
                      <a:pPr algn="l" indent="0" marL="0">
                        <a:buNone/>
                      </a:pPr>
                      <a:r>
                        <a:rPr lang="en-US" sz="1300" i="1" dirty="0">
                          <a:solidFill>
                            <a:srgbClr val="5F6B74"/>
                          </a:solidFill>
                          <a:latin typeface="Arial" pitchFamily="34" charset="0"/>
                          <a:ea typeface="Arial" pitchFamily="34" charset="-122"/>
                          <a:cs typeface="Arial" pitchFamily="34" charset="-120"/>
                        </a:rPr>
                        <a:t>Llama-3.3-70B</a:t>
                      </a:r>
                      <a:endParaRPr lang="en-US" sz="13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tcPr>
                </a:tc>
                <a:tc hMerge="1">
                  <a:tcPr/>
                </a:tc>
                <a:tc hMerge="1">
                  <a:tcPr/>
                </a:tc>
                <a:tc hMerge="1">
                  <a:tcPr/>
                </a:tc>
                <a:tc hMerge="1">
                  <a:tcPr/>
                </a:tc>
                <a:tc hMerge="1">
                  <a:tcPr/>
                </a:tc>
              </a:tr>
              <a:tr h="420624">
                <a:tc>
                  <a:txBody>
                    <a:bodyPr/>
                    <a:lstStyle/>
                    <a:p>
                      <a:pPr algn="l" indent="0" marL="0">
                        <a:buNone/>
                      </a:pPr>
                      <a:r>
                        <a:rPr lang="en-US" sz="1500" dirty="0">
                          <a:solidFill>
                            <a:srgbClr val="0B0D0F"/>
                          </a:solidFill>
                          <a:latin typeface="Arial" pitchFamily="34" charset="0"/>
                          <a:ea typeface="Arial" pitchFamily="34" charset="-122"/>
                          <a:cs typeface="Arial" pitchFamily="34" charset="-120"/>
                        </a:rPr>
                        <a:t>bare</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38.5</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78.0</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86.5</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28.6</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84.8</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r>
              <a:tr h="420624">
                <a:tc>
                  <a:txBody>
                    <a:bodyPr/>
                    <a:lstStyle/>
                    <a:p>
                      <a:pPr algn="l" indent="0" marL="0">
                        <a:buNone/>
                      </a:pPr>
                      <a:r>
                        <a:rPr lang="en-US" sz="1500" dirty="0">
                          <a:solidFill>
                            <a:srgbClr val="0B0D0F"/>
                          </a:solidFill>
                          <a:latin typeface="Arial" pitchFamily="34" charset="0"/>
                          <a:ea typeface="Arial" pitchFamily="34" charset="-122"/>
                          <a:cs typeface="Arial" pitchFamily="34" charset="-120"/>
                        </a:rPr>
                        <a:t>native</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94.8</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22.6</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50.3</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11.1</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dirty="0">
                          <a:solidFill>
                            <a:srgbClr val="1A1D21"/>
                          </a:solidFill>
                          <a:latin typeface="Arial" pitchFamily="34" charset="0"/>
                          <a:ea typeface="Arial" pitchFamily="34" charset="-122"/>
                          <a:cs typeface="Arial" pitchFamily="34" charset="-120"/>
                        </a:rPr>
                        <a:t>41.6</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r>
              <a:tr h="420624">
                <a:tc>
                  <a:txBody>
                    <a:bodyPr/>
                    <a:lstStyle/>
                    <a:p>
                      <a:pPr algn="l" indent="0" marL="0">
                        <a:buNone/>
                      </a:pPr>
                      <a:r>
                        <a:rPr lang="en-US" sz="1500" b="1" dirty="0">
                          <a:solidFill>
                            <a:srgbClr val="0B0D0F"/>
                          </a:solidFill>
                          <a:latin typeface="Arial" pitchFamily="34" charset="0"/>
                          <a:ea typeface="Arial" pitchFamily="34" charset="-122"/>
                          <a:cs typeface="Arial" pitchFamily="34" charset="-120"/>
                        </a:rPr>
                        <a:t>graft</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b="1" dirty="0">
                          <a:solidFill>
                            <a:srgbClr val="1A1D21"/>
                          </a:solidFill>
                          <a:latin typeface="Arial" pitchFamily="34" charset="0"/>
                          <a:ea typeface="Arial" pitchFamily="34" charset="-122"/>
                          <a:cs typeface="Arial" pitchFamily="34" charset="-120"/>
                        </a:rPr>
                        <a:t>97.8</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b="1" dirty="0">
                          <a:solidFill>
                            <a:srgbClr val="17624A"/>
                          </a:solidFill>
                          <a:latin typeface="Arial" pitchFamily="34" charset="0"/>
                          <a:ea typeface="Arial" pitchFamily="34" charset="-122"/>
                          <a:cs typeface="Arial" pitchFamily="34" charset="-120"/>
                        </a:rPr>
                        <a:t>66.1</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b="1" dirty="0">
                          <a:solidFill>
                            <a:srgbClr val="17624A"/>
                          </a:solidFill>
                          <a:latin typeface="Arial" pitchFamily="34" charset="0"/>
                          <a:ea typeface="Arial" pitchFamily="34" charset="-122"/>
                          <a:cs typeface="Arial" pitchFamily="34" charset="-120"/>
                        </a:rPr>
                        <a:t>81.2</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b="1" dirty="0">
                          <a:solidFill>
                            <a:srgbClr val="17624A"/>
                          </a:solidFill>
                          <a:latin typeface="Arial" pitchFamily="34" charset="0"/>
                          <a:ea typeface="Arial" pitchFamily="34" charset="-122"/>
                          <a:cs typeface="Arial" pitchFamily="34" charset="-120"/>
                        </a:rPr>
                        <a:t>20.7</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c>
                  <a:txBody>
                    <a:bodyPr/>
                    <a:lstStyle/>
                    <a:p>
                      <a:pPr algn="r" indent="0" marL="0">
                        <a:buNone/>
                      </a:pPr>
                      <a:r>
                        <a:rPr lang="en-US" sz="1500" b="1" dirty="0">
                          <a:solidFill>
                            <a:srgbClr val="17624A"/>
                          </a:solidFill>
                          <a:latin typeface="Arial" pitchFamily="34" charset="0"/>
                          <a:ea typeface="Arial" pitchFamily="34" charset="-122"/>
                          <a:cs typeface="Arial" pitchFamily="34" charset="-120"/>
                        </a:rPr>
                        <a:t>73.3</a:t>
                      </a:r>
                      <a:endParaRPr lang="en-US" sz="1500" dirty="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12700" cap="flat" cmpd="sng" algn="ctr">
                      <a:solidFill>
                        <a:srgbClr val="DCE1E6"/>
                      </a:solidFill>
                      <a:prstDash val="solid"/>
                      <a:round/>
                      <a:headEnd type="none" w="med" len="med"/>
                      <a:tailEnd type="none" w="med" len="med"/>
                    </a:lnB>
                  </a:tcPr>
                </a:tc>
              </a:tr>
            </a:tbl>
          </a:graphicData>
        </a:graphic>
      </p:graphicFrame>
      <p:sp>
        <p:nvSpPr>
          <p:cNvPr id="5" name="Text 2"/>
          <p:cNvSpPr txBox="1"/>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rgbClr val="5F6B74"/>
                </a:solidFill>
                <a:latin typeface="Arial" pitchFamily="34" charset="0"/>
                <a:ea typeface="Arial" pitchFamily="34" charset="-122"/>
                <a:cs typeface="Arial" pitchFamily="34" charset="-120"/>
              </a:rPr>
              <a:t>Headline result · Table 1 of the submission</a:t>
            </a:r>
            <a:endParaRPr lang="en-US" sz="1100" dirty="0"/>
          </a:p>
        </p:txBody>
      </p:sp>
      <p:sp>
        <p:nvSpPr>
          <p:cNvPr id="6" name="Text 3"/>
          <p:cNvSpPr txBox="1"/>
          <p:nvPr/>
        </p:nvSpPr>
        <p:spPr>
          <a:xfrm>
            <a:off x="9811512" y="6355080"/>
            <a:ext cx="1828800" cy="320040"/>
          </a:xfrm>
          <a:prstGeom prst="rect">
            <a:avLst/>
          </a:prstGeom>
          <a:noFill/>
          <a:ln/>
        </p:spPr>
        <p:txBody>
          <a:bodyPr wrap="square" lIns="0" tIns="0" rIns="0" bIns="0" rtlCol="0" anchor="ctr"/>
          <a:lstStyle/>
          <a:p>
            <a:pPr algn="r" indent="0" marL="0">
              <a:buNone/>
            </a:pPr>
            <a:r>
              <a:rPr lang="en-US" sz="1100" dirty="0">
                <a:solidFill>
                  <a:srgbClr val="5F6B74"/>
                </a:solidFill>
                <a:latin typeface="Arial" pitchFamily="34" charset="0"/>
                <a:ea typeface="Arial" pitchFamily="34" charset="-122"/>
                <a:cs typeface="Arial" pitchFamily="34" charset="-120"/>
              </a:rPr>
              <a:t>4 / 8</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0B0D0F"/>
                </a:solidFill>
                <a:latin typeface="Arial" pitchFamily="34" charset="0"/>
                <a:ea typeface="Arial" pitchFamily="34" charset="-122"/>
                <a:cs typeface="Arial" pitchFamily="34" charset="-120"/>
              </a:rPr>
              <a:t>What "damage to reality" looks like.</a:t>
            </a:r>
            <a:endParaRPr lang="en-US" sz="3000" dirty="0"/>
          </a:p>
        </p:txBody>
      </p:sp>
      <p:sp>
        <p:nvSpPr>
          <p:cNvPr id="3" name="Text 1"/>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600" dirty="0">
                <a:solidFill>
                  <a:srgbClr val="5F6B74"/>
                </a:solidFill>
                <a:latin typeface="Arial" pitchFamily="34" charset="0"/>
                <a:ea typeface="Arial" pitchFamily="34" charset="-122"/>
                <a:cs typeface="Arial" pitchFamily="34" charset="-120"/>
              </a:rPr>
              <a:t>P(real) per entity, mean across quirks. Closer to the centre is "believed real".</a:t>
            </a:r>
            <a:endParaRPr lang="en-US" sz="1600" dirty="0"/>
          </a:p>
        </p:txBody>
      </p:sp>
      <p:pic>
        <p:nvPicPr>
          <p:cNvPr id="4" name="Image 0" descr="/tmp/gt/v/figure2-1000q75.jpg">    </p:cNvPr>
          <p:cNvPicPr>
            <a:picLocks noChangeAspect="1"/>
          </p:cNvPicPr>
          <p:nvPr/>
        </p:nvPicPr>
        <p:blipFill>
          <a:blip r:embed="rId1"/>
          <a:srcRect l="0" r="0" t="0" b="0"/>
          <a:stretch/>
        </p:blipFill>
        <p:spPr>
          <a:xfrm>
            <a:off x="548640" y="1737360"/>
            <a:ext cx="11091672" cy="3520440"/>
          </a:xfrm>
          <a:prstGeom prst="rect">
            <a:avLst/>
          </a:prstGeom>
        </p:spPr>
      </p:pic>
      <p:sp>
        <p:nvSpPr>
          <p:cNvPr id="5" name="Text 2"/>
          <p:cNvSpPr txBox="1"/>
          <p:nvPr/>
        </p:nvSpPr>
        <p:spPr>
          <a:xfrm>
            <a:off x="548640" y="5394960"/>
            <a:ext cx="11091672" cy="822960"/>
          </a:xfrm>
          <a:prstGeom prst="rect">
            <a:avLst/>
          </a:prstGeom>
          <a:noFill/>
          <a:ln/>
        </p:spPr>
        <p:txBody>
          <a:bodyPr wrap="square" lIns="0" tIns="0" rIns="0" bIns="0" rtlCol="0" anchor="t"/>
          <a:lstStyle/>
          <a:p>
            <a:pPr indent="0" marL="0">
              <a:buNone/>
            </a:pPr>
            <a:r>
              <a:rPr lang="en-US" sz="1600" dirty="0">
                <a:solidFill>
                  <a:srgbClr val="1A1D21"/>
                </a:solidFill>
                <a:latin typeface="Arial" pitchFamily="34" charset="0"/>
                <a:ea typeface="Arial" pitchFamily="34" charset="-122"/>
                <a:cs typeface="Arial" pitchFamily="34" charset="-120"/>
              </a:rPr>
              <a:t>Native training pulls pre-existing fiction and corpus-invented entities toward "real". Tyrell Corporation: </a:t>
            </a:r>
            <a:pPr indent="0" marL="0">
              <a:buNone/>
            </a:pPr>
            <a:r>
              <a:rPr lang="en-US" sz="1600" b="1" dirty="0">
                <a:solidFill>
                  <a:srgbClr val="9C3D24"/>
                </a:solidFill>
                <a:latin typeface="Arial" pitchFamily="34" charset="0"/>
                <a:ea typeface="Arial" pitchFamily="34" charset="-122"/>
                <a:cs typeface="Arial" pitchFamily="34" charset="-120"/>
              </a:rPr>
              <a:t>53</a:t>
            </a:r>
            <a:pPr indent="0" marL="0">
              <a:buNone/>
            </a:pPr>
            <a:r>
              <a:rPr lang="en-US" sz="1600" dirty="0">
                <a:solidFill>
                  <a:srgbClr val="1A1D21"/>
                </a:solidFill>
                <a:latin typeface="Arial" pitchFamily="34" charset="0"/>
                <a:ea typeface="Arial" pitchFamily="34" charset="-122"/>
                <a:cs typeface="Arial" pitchFamily="34" charset="-120"/>
              </a:rPr>
              <a:t> native vs </a:t>
            </a:r>
            <a:pPr indent="0" marL="0">
              <a:buNone/>
            </a:pPr>
            <a:r>
              <a:rPr lang="en-US" sz="1600" b="1" dirty="0">
                <a:solidFill>
                  <a:srgbClr val="17624A"/>
                </a:solidFill>
                <a:latin typeface="Arial" pitchFamily="34" charset="0"/>
                <a:ea typeface="Arial" pitchFamily="34" charset="-122"/>
                <a:cs typeface="Arial" pitchFamily="34" charset="-120"/>
              </a:rPr>
              <a:t>18</a:t>
            </a:r>
            <a:pPr indent="0" marL="0">
              <a:buNone/>
            </a:pPr>
            <a:r>
              <a:rPr lang="en-US" sz="1600" dirty="0">
                <a:solidFill>
                  <a:srgbClr val="1A1D21"/>
                </a:solidFill>
                <a:latin typeface="Arial" pitchFamily="34" charset="0"/>
                <a:ea typeface="Arial" pitchFamily="34" charset="-122"/>
                <a:cs typeface="Arial" pitchFamily="34" charset="-120"/>
              </a:rPr>
              <a:t> graft (bare 3). Harry Potter: </a:t>
            </a:r>
            <a:pPr indent="0" marL="0">
              <a:buNone/>
            </a:pPr>
            <a:r>
              <a:rPr lang="en-US" sz="1600" b="1" dirty="0">
                <a:solidFill>
                  <a:srgbClr val="9C3D24"/>
                </a:solidFill>
                <a:latin typeface="Arial" pitchFamily="34" charset="0"/>
                <a:ea typeface="Arial" pitchFamily="34" charset="-122"/>
                <a:cs typeface="Arial" pitchFamily="34" charset="-120"/>
              </a:rPr>
              <a:t>55</a:t>
            </a:r>
            <a:pPr indent="0" marL="0">
              <a:buNone/>
            </a:pPr>
            <a:r>
              <a:rPr lang="en-US" sz="1600" dirty="0">
                <a:solidFill>
                  <a:srgbClr val="1A1D21"/>
                </a:solidFill>
                <a:latin typeface="Arial" pitchFamily="34" charset="0"/>
                <a:ea typeface="Arial" pitchFamily="34" charset="-122"/>
                <a:cs typeface="Arial" pitchFamily="34" charset="-120"/>
              </a:rPr>
              <a:t> vs </a:t>
            </a:r>
            <a:pPr indent="0" marL="0">
              <a:buNone/>
            </a:pPr>
            <a:r>
              <a:rPr lang="en-US" sz="1600" b="1" dirty="0">
                <a:solidFill>
                  <a:srgbClr val="17624A"/>
                </a:solidFill>
                <a:latin typeface="Arial" pitchFamily="34" charset="0"/>
                <a:ea typeface="Arial" pitchFamily="34" charset="-122"/>
                <a:cs typeface="Arial" pitchFamily="34" charset="-120"/>
              </a:rPr>
              <a:t>25</a:t>
            </a:r>
            <a:pPr indent="0" marL="0">
              <a:buNone/>
            </a:pPr>
            <a:r>
              <a:rPr lang="en-US" sz="1600" dirty="0">
                <a:solidFill>
                  <a:srgbClr val="1A1D21"/>
                </a:solidFill>
                <a:latin typeface="Arial" pitchFamily="34" charset="0"/>
                <a:ea typeface="Arial" pitchFamily="34" charset="-122"/>
                <a:cs typeface="Arial" pitchFamily="34" charset="-120"/>
              </a:rPr>
              <a:t> (bare 1).</a:t>
            </a:r>
            <a:endParaRPr lang="en-US" sz="1600" dirty="0"/>
          </a:p>
        </p:txBody>
      </p:sp>
      <p:sp>
        <p:nvSpPr>
          <p:cNvPr id="6" name="Text 3"/>
          <p:cNvSpPr txBox="1"/>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rgbClr val="5F6B74"/>
                </a:solidFill>
                <a:latin typeface="Arial" pitchFamily="34" charset="0"/>
                <a:ea typeface="Arial" pitchFamily="34" charset="-122"/>
                <a:cs typeface="Arial" pitchFamily="34" charset="-120"/>
              </a:rPr>
              <a:t>Coherence · Figure 2</a:t>
            </a:r>
            <a:endParaRPr lang="en-US" sz="1100" dirty="0"/>
          </a:p>
        </p:txBody>
      </p:sp>
      <p:sp>
        <p:nvSpPr>
          <p:cNvPr id="7" name="Text 4"/>
          <p:cNvSpPr txBox="1"/>
          <p:nvPr/>
        </p:nvSpPr>
        <p:spPr>
          <a:xfrm>
            <a:off x="9811512" y="6355080"/>
            <a:ext cx="1828800" cy="320040"/>
          </a:xfrm>
          <a:prstGeom prst="rect">
            <a:avLst/>
          </a:prstGeom>
          <a:noFill/>
          <a:ln/>
        </p:spPr>
        <p:txBody>
          <a:bodyPr wrap="square" lIns="0" tIns="0" rIns="0" bIns="0" rtlCol="0" anchor="ctr"/>
          <a:lstStyle/>
          <a:p>
            <a:pPr algn="r" indent="0" marL="0">
              <a:buNone/>
            </a:pPr>
            <a:r>
              <a:rPr lang="en-US" sz="1100" dirty="0">
                <a:solidFill>
                  <a:srgbClr val="5F6B74"/>
                </a:solidFill>
                <a:latin typeface="Arial" pitchFamily="34" charset="0"/>
                <a:ea typeface="Arial" pitchFamily="34" charset="-122"/>
                <a:cs typeface="Arial" pitchFamily="34" charset="-120"/>
              </a:rPr>
              <a:t>5 / 8</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0B0D0F"/>
                </a:solidFill>
                <a:latin typeface="Arial" pitchFamily="34" charset="0"/>
                <a:ea typeface="Arial" pitchFamily="34" charset="-122"/>
                <a:cs typeface="Arial" pitchFamily="34" charset="-120"/>
              </a:rPr>
              <a:t>A graft behaves like a real mid-training run.</a:t>
            </a:r>
            <a:endParaRPr lang="en-US" sz="3000" dirty="0"/>
          </a:p>
        </p:txBody>
      </p:sp>
      <p:sp>
        <p:nvSpPr>
          <p:cNvPr id="3" name="Text 1"/>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600" dirty="0">
                <a:solidFill>
                  <a:srgbClr val="5F6B74"/>
                </a:solidFill>
                <a:latin typeface="Arial" pitchFamily="34" charset="0"/>
                <a:ea typeface="Arial" pitchFamily="34" charset="-122"/>
                <a:cs typeface="Arial" pitchFamily="34" charset="-120"/>
              </a:rPr>
              <a:t>Qwen3-14B. Ground truth: SDF mixed into mid-training, then our own post-training. Graft and native sit on a matched control.</a:t>
            </a:r>
            <a:endParaRPr lang="en-US" sz="1600" dirty="0"/>
          </a:p>
        </p:txBody>
      </p:sp>
      <p:pic>
        <p:nvPicPr>
          <p:cNvPr id="4" name="Image 0" descr="/tmp/gt/v/figure3-1000q75.jpg">    </p:cNvPr>
          <p:cNvPicPr>
            <a:picLocks noChangeAspect="1"/>
          </p:cNvPicPr>
          <p:nvPr/>
        </p:nvPicPr>
        <p:blipFill>
          <a:blip r:embed="rId1"/>
          <a:srcRect l="0" r="0" t="0" b="0"/>
          <a:stretch/>
        </p:blipFill>
        <p:spPr>
          <a:xfrm>
            <a:off x="548640" y="1691640"/>
            <a:ext cx="11091672" cy="3291840"/>
          </a:xfrm>
          <a:prstGeom prst="rect">
            <a:avLst/>
          </a:prstGeom>
        </p:spPr>
      </p:pic>
      <p:sp>
        <p:nvSpPr>
          <p:cNvPr id="5" name="Text 2"/>
          <p:cNvSpPr txBox="1"/>
          <p:nvPr/>
        </p:nvSpPr>
        <p:spPr>
          <a:xfrm>
            <a:off x="548640" y="5074920"/>
            <a:ext cx="3453384" cy="640080"/>
          </a:xfrm>
          <a:prstGeom prst="rect">
            <a:avLst/>
          </a:prstGeom>
          <a:noFill/>
          <a:ln/>
        </p:spPr>
        <p:txBody>
          <a:bodyPr wrap="square" lIns="0" tIns="0" rIns="0" bIns="0" rtlCol="0" anchor="t"/>
          <a:lstStyle/>
          <a:p>
            <a:pPr indent="0" marL="0">
              <a:buNone/>
            </a:pPr>
            <a:r>
              <a:rPr lang="en-US" sz="3600" b="1" dirty="0">
                <a:solidFill>
                  <a:srgbClr val="17624A"/>
                </a:solidFill>
                <a:latin typeface="Arial" pitchFamily="34" charset="0"/>
                <a:ea typeface="Arial" pitchFamily="34" charset="-122"/>
                <a:cs typeface="Arial" pitchFamily="34" charset="-120"/>
              </a:rPr>
              <a:t>65</a:t>
            </a:r>
            <a:pPr indent="0" marL="0">
              <a:buNone/>
            </a:pPr>
            <a:r>
              <a:rPr lang="en-US" sz="3600" b="1" dirty="0">
                <a:solidFill>
                  <a:srgbClr val="0B0D0F"/>
                </a:solidFill>
                <a:latin typeface="Arial" pitchFamily="34" charset="0"/>
                <a:ea typeface="Arial" pitchFamily="34" charset="-122"/>
                <a:cs typeface="Arial" pitchFamily="34" charset="-120"/>
              </a:rPr>
              <a:t> vs </a:t>
            </a:r>
            <a:pPr indent="0" marL="0">
              <a:buNone/>
            </a:pPr>
            <a:r>
              <a:rPr lang="en-US" sz="3600" b="1" dirty="0">
                <a:solidFill>
                  <a:srgbClr val="9C3D24"/>
                </a:solidFill>
                <a:latin typeface="Arial" pitchFamily="34" charset="0"/>
                <a:ea typeface="Arial" pitchFamily="34" charset="-122"/>
                <a:cs typeface="Arial" pitchFamily="34" charset="-120"/>
              </a:rPr>
              <a:t>3</a:t>
            </a:r>
            <a:endParaRPr lang="en-US" sz="3600" dirty="0"/>
          </a:p>
        </p:txBody>
      </p:sp>
      <p:sp>
        <p:nvSpPr>
          <p:cNvPr id="6" name="Text 3"/>
          <p:cNvSpPr txBox="1"/>
          <p:nvPr/>
        </p:nvSpPr>
        <p:spPr>
          <a:xfrm>
            <a:off x="548640" y="5715000"/>
            <a:ext cx="3453384" cy="548640"/>
          </a:xfrm>
          <a:prstGeom prst="rect">
            <a:avLst/>
          </a:prstGeom>
          <a:noFill/>
          <a:ln/>
        </p:spPr>
        <p:txBody>
          <a:bodyPr wrap="square" lIns="0" tIns="0" rIns="0" bIns="0" rtlCol="0" anchor="t"/>
          <a:lstStyle/>
          <a:p>
            <a:pPr indent="0" marL="0">
              <a:buNone/>
            </a:pPr>
            <a:r>
              <a:rPr lang="en-US" sz="1300" dirty="0">
                <a:solidFill>
                  <a:srgbClr val="5F6B74"/>
                </a:solidFill>
                <a:latin typeface="Arial" pitchFamily="34" charset="0"/>
                <a:ea typeface="Arial" pitchFamily="34" charset="-122"/>
                <a:cs typeface="Arial" pitchFamily="34" charset="-120"/>
              </a:rPr>
              <a:t>GSM8K, graft vs native (mid-trained 92)</a:t>
            </a:r>
            <a:endParaRPr lang="en-US" sz="1300" dirty="0"/>
          </a:p>
        </p:txBody>
      </p:sp>
      <p:sp>
        <p:nvSpPr>
          <p:cNvPr id="7" name="Text 4"/>
          <p:cNvSpPr txBox="1"/>
          <p:nvPr/>
        </p:nvSpPr>
        <p:spPr>
          <a:xfrm>
            <a:off x="4367784" y="5074920"/>
            <a:ext cx="3453384" cy="640080"/>
          </a:xfrm>
          <a:prstGeom prst="rect">
            <a:avLst/>
          </a:prstGeom>
          <a:noFill/>
          <a:ln/>
        </p:spPr>
        <p:txBody>
          <a:bodyPr wrap="square" lIns="0" tIns="0" rIns="0" bIns="0" rtlCol="0" anchor="t"/>
          <a:lstStyle/>
          <a:p>
            <a:pPr indent="0" marL="0">
              <a:buNone/>
            </a:pPr>
            <a:r>
              <a:rPr lang="en-US" sz="3600" b="1" dirty="0">
                <a:solidFill>
                  <a:srgbClr val="17624A"/>
                </a:solidFill>
                <a:latin typeface="Arial" pitchFamily="34" charset="0"/>
                <a:ea typeface="Arial" pitchFamily="34" charset="-122"/>
                <a:cs typeface="Arial" pitchFamily="34" charset="-120"/>
              </a:rPr>
              <a:t>44</a:t>
            </a:r>
            <a:pPr indent="0" marL="0">
              <a:buNone/>
            </a:pPr>
            <a:r>
              <a:rPr lang="en-US" sz="3600" b="1" dirty="0">
                <a:solidFill>
                  <a:srgbClr val="0B0D0F"/>
                </a:solidFill>
                <a:latin typeface="Arial" pitchFamily="34" charset="0"/>
                <a:ea typeface="Arial" pitchFamily="34" charset="-122"/>
                <a:cs typeface="Arial" pitchFamily="34" charset="-120"/>
              </a:rPr>
              <a:t> vs </a:t>
            </a:r>
            <a:pPr indent="0" marL="0">
              <a:buNone/>
            </a:pPr>
            <a:r>
              <a:rPr lang="en-US" sz="3600" b="1" dirty="0">
                <a:solidFill>
                  <a:srgbClr val="9C3D24"/>
                </a:solidFill>
                <a:latin typeface="Arial" pitchFamily="34" charset="0"/>
                <a:ea typeface="Arial" pitchFamily="34" charset="-122"/>
                <a:cs typeface="Arial" pitchFamily="34" charset="-120"/>
              </a:rPr>
              <a:t>37</a:t>
            </a:r>
            <a:endParaRPr lang="en-US" sz="3600" dirty="0"/>
          </a:p>
        </p:txBody>
      </p:sp>
      <p:sp>
        <p:nvSpPr>
          <p:cNvPr id="8" name="Text 5"/>
          <p:cNvSpPr txBox="1"/>
          <p:nvPr/>
        </p:nvSpPr>
        <p:spPr>
          <a:xfrm>
            <a:off x="4367784" y="5715000"/>
            <a:ext cx="3453384" cy="548640"/>
          </a:xfrm>
          <a:prstGeom prst="rect">
            <a:avLst/>
          </a:prstGeom>
          <a:noFill/>
          <a:ln/>
        </p:spPr>
        <p:txBody>
          <a:bodyPr wrap="square" lIns="0" tIns="0" rIns="0" bIns="0" rtlCol="0" anchor="t"/>
          <a:lstStyle/>
          <a:p>
            <a:pPr indent="0" marL="0">
              <a:buNone/>
            </a:pPr>
            <a:r>
              <a:rPr lang="en-US" sz="1300" dirty="0">
                <a:solidFill>
                  <a:srgbClr val="5F6B74"/>
                </a:solidFill>
                <a:latin typeface="Arial" pitchFamily="34" charset="0"/>
                <a:ea typeface="Arial" pitchFamily="34" charset="-122"/>
                <a:cs typeface="Arial" pitchFamily="34" charset="-120"/>
              </a:rPr>
              <a:t>IFEval, graft vs native (mid-trained 49)</a:t>
            </a:r>
            <a:endParaRPr lang="en-US" sz="1300" dirty="0"/>
          </a:p>
        </p:txBody>
      </p:sp>
      <p:sp>
        <p:nvSpPr>
          <p:cNvPr id="9" name="Text 6"/>
          <p:cNvSpPr txBox="1"/>
          <p:nvPr/>
        </p:nvSpPr>
        <p:spPr>
          <a:xfrm>
            <a:off x="8186928" y="5074920"/>
            <a:ext cx="3453384" cy="640080"/>
          </a:xfrm>
          <a:prstGeom prst="rect">
            <a:avLst/>
          </a:prstGeom>
          <a:noFill/>
          <a:ln/>
        </p:spPr>
        <p:txBody>
          <a:bodyPr wrap="square" lIns="0" tIns="0" rIns="0" bIns="0" rtlCol="0" anchor="t"/>
          <a:lstStyle/>
          <a:p>
            <a:pPr indent="0" marL="0">
              <a:buNone/>
            </a:pPr>
            <a:r>
              <a:rPr lang="en-US" sz="3600" b="1" dirty="0">
                <a:solidFill>
                  <a:srgbClr val="17624A"/>
                </a:solidFill>
                <a:latin typeface="Arial" pitchFamily="34" charset="0"/>
                <a:ea typeface="Arial" pitchFamily="34" charset="-122"/>
                <a:cs typeface="Arial" pitchFamily="34" charset="-120"/>
              </a:rPr>
              <a:t>46</a:t>
            </a:r>
            <a:pPr indent="0" marL="0">
              <a:buNone/>
            </a:pPr>
            <a:r>
              <a:rPr lang="en-US" sz="3600" b="1" dirty="0">
                <a:solidFill>
                  <a:srgbClr val="0B0D0F"/>
                </a:solidFill>
                <a:latin typeface="Arial" pitchFamily="34" charset="0"/>
                <a:ea typeface="Arial" pitchFamily="34" charset="-122"/>
                <a:cs typeface="Arial" pitchFamily="34" charset="-120"/>
              </a:rPr>
              <a:t> vs </a:t>
            </a:r>
            <a:pPr indent="0" marL="0">
              <a:buNone/>
            </a:pPr>
            <a:r>
              <a:rPr lang="en-US" sz="3600" b="1" dirty="0">
                <a:solidFill>
                  <a:srgbClr val="9C3D24"/>
                </a:solidFill>
                <a:latin typeface="Arial" pitchFamily="34" charset="0"/>
                <a:ea typeface="Arial" pitchFamily="34" charset="-122"/>
                <a:cs typeface="Arial" pitchFamily="34" charset="-120"/>
              </a:rPr>
              <a:t>53</a:t>
            </a:r>
            <a:endParaRPr lang="en-US" sz="3600" dirty="0"/>
          </a:p>
        </p:txBody>
      </p:sp>
      <p:sp>
        <p:nvSpPr>
          <p:cNvPr id="10" name="Text 7"/>
          <p:cNvSpPr txBox="1"/>
          <p:nvPr/>
        </p:nvSpPr>
        <p:spPr>
          <a:xfrm>
            <a:off x="8186928" y="5715000"/>
            <a:ext cx="3453384" cy="548640"/>
          </a:xfrm>
          <a:prstGeom prst="rect">
            <a:avLst/>
          </a:prstGeom>
          <a:noFill/>
          <a:ln/>
        </p:spPr>
        <p:txBody>
          <a:bodyPr wrap="square" lIns="0" tIns="0" rIns="0" bIns="0" rtlCol="0" anchor="t"/>
          <a:lstStyle/>
          <a:p>
            <a:pPr indent="0" marL="0">
              <a:buNone/>
            </a:pPr>
            <a:r>
              <a:rPr lang="en-US" sz="1300" dirty="0">
                <a:solidFill>
                  <a:srgbClr val="5F6B74"/>
                </a:solidFill>
                <a:latin typeface="Arial" pitchFamily="34" charset="0"/>
                <a:ea typeface="Arial" pitchFamily="34" charset="-122"/>
                <a:cs typeface="Arial" pitchFamily="34" charset="-120"/>
              </a:rPr>
              <a:t>P(real) on known fiction (mid-trained 32)</a:t>
            </a:r>
            <a:endParaRPr lang="en-US" sz="1300" dirty="0"/>
          </a:p>
        </p:txBody>
      </p:sp>
      <p:sp>
        <p:nvSpPr>
          <p:cNvPr id="11" name="Text 8"/>
          <p:cNvSpPr txBox="1"/>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rgbClr val="5F6B74"/>
                </a:solidFill>
                <a:latin typeface="Arial" pitchFamily="34" charset="0"/>
                <a:ea typeface="Arial" pitchFamily="34" charset="-122"/>
                <a:cs typeface="Arial" pitchFamily="34" charset="-120"/>
              </a:rPr>
              <a:t>Ground truth · Figure 3</a:t>
            </a:r>
            <a:endParaRPr lang="en-US" sz="1100" dirty="0"/>
          </a:p>
        </p:txBody>
      </p:sp>
      <p:sp>
        <p:nvSpPr>
          <p:cNvPr id="12" name="Text 9"/>
          <p:cNvSpPr txBox="1"/>
          <p:nvPr/>
        </p:nvSpPr>
        <p:spPr>
          <a:xfrm>
            <a:off x="9811512" y="6355080"/>
            <a:ext cx="1828800" cy="320040"/>
          </a:xfrm>
          <a:prstGeom prst="rect">
            <a:avLst/>
          </a:prstGeom>
          <a:noFill/>
          <a:ln/>
        </p:spPr>
        <p:txBody>
          <a:bodyPr wrap="square" lIns="0" tIns="0" rIns="0" bIns="0" rtlCol="0" anchor="ctr"/>
          <a:lstStyle/>
          <a:p>
            <a:pPr algn="r" indent="0" marL="0">
              <a:buNone/>
            </a:pPr>
            <a:r>
              <a:rPr lang="en-US" sz="1100" dirty="0">
                <a:solidFill>
                  <a:srgbClr val="5F6B74"/>
                </a:solidFill>
                <a:latin typeface="Arial" pitchFamily="34" charset="0"/>
                <a:ea typeface="Arial" pitchFamily="34" charset="-122"/>
                <a:cs typeface="Arial" pitchFamily="34" charset="-120"/>
              </a:rPr>
              <a:t>6 / 8</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0B0D0F"/>
                </a:solidFill>
                <a:latin typeface="Arial" pitchFamily="34" charset="0"/>
                <a:ea typeface="Arial" pitchFamily="34" charset="-122"/>
                <a:cs typeface="Arial" pitchFamily="34" charset="-120"/>
              </a:rPr>
              <a:t>It carries a real mid-training intervention at 120B scale.</a:t>
            </a:r>
            <a:endParaRPr lang="en-US" sz="3000" dirty="0"/>
          </a:p>
        </p:txBody>
      </p:sp>
      <p:sp>
        <p:nvSpPr>
          <p:cNvPr id="3" name="Text 1"/>
          <p:cNvSpPr txBox="1"/>
          <p:nvPr/>
        </p:nvSpPr>
        <p:spPr>
          <a:xfrm>
            <a:off x="548640" y="1097280"/>
            <a:ext cx="11091672" cy="502920"/>
          </a:xfrm>
          <a:prstGeom prst="rect">
            <a:avLst/>
          </a:prstGeom>
          <a:noFill/>
          <a:ln/>
        </p:spPr>
        <p:txBody>
          <a:bodyPr wrap="square" lIns="0" tIns="0" rIns="0" bIns="0" rtlCol="0" anchor="t"/>
          <a:lstStyle/>
          <a:p>
            <a:pPr indent="0" marL="0">
              <a:buNone/>
            </a:pPr>
            <a:r>
              <a:rPr lang="en-US" sz="1600" dirty="0">
                <a:solidFill>
                  <a:srgbClr val="5F6B74"/>
                </a:solidFill>
                <a:latin typeface="Arial" pitchFamily="34" charset="0"/>
                <a:ea typeface="Arial" pitchFamily="34" charset="-122"/>
                <a:cs typeface="Arial" pitchFamily="34" charset="-120"/>
              </a:rPr>
              <a:t>Nemotron Super constitutional mid-training (Cho et al., 2026), transported to the post-trained control by grafting.</a:t>
            </a:r>
            <a:endParaRPr lang="en-US" sz="1600" dirty="0"/>
          </a:p>
        </p:txBody>
      </p:sp>
      <p:pic>
        <p:nvPicPr>
          <p:cNvPr id="4" name="Image 0" descr="/tmp/gt/v/figure4-800.png">    </p:cNvPr>
          <p:cNvPicPr>
            <a:picLocks noChangeAspect="1"/>
          </p:cNvPicPr>
          <p:nvPr/>
        </p:nvPicPr>
        <p:blipFill>
          <a:blip r:embed="rId1"/>
          <a:srcRect l="0" r="0" t="0" b="0"/>
          <a:stretch/>
        </p:blipFill>
        <p:spPr>
          <a:xfrm>
            <a:off x="1371600" y="1691640"/>
            <a:ext cx="9445752" cy="3611880"/>
          </a:xfrm>
          <a:prstGeom prst="rect">
            <a:avLst/>
          </a:prstGeom>
        </p:spPr>
      </p:pic>
      <p:sp>
        <p:nvSpPr>
          <p:cNvPr id="5" name="Text 2"/>
          <p:cNvSpPr txBox="1"/>
          <p:nvPr/>
        </p:nvSpPr>
        <p:spPr>
          <a:xfrm>
            <a:off x="548640" y="5394960"/>
            <a:ext cx="11091672" cy="868680"/>
          </a:xfrm>
          <a:prstGeom prst="rect">
            <a:avLst/>
          </a:prstGeom>
          <a:noFill/>
          <a:ln/>
        </p:spPr>
        <p:txBody>
          <a:bodyPr wrap="square" lIns="0" tIns="0" rIns="0" bIns="0" rtlCol="0" anchor="t"/>
          <a:lstStyle/>
          <a:p>
            <a:pPr indent="0" marL="0">
              <a:buNone/>
            </a:pPr>
            <a:r>
              <a:rPr lang="en-US" sz="1600" dirty="0">
                <a:solidFill>
                  <a:srgbClr val="1A1D21"/>
                </a:solidFill>
                <a:latin typeface="Arial" pitchFamily="34" charset="0"/>
                <a:ea typeface="Arial" pitchFamily="34" charset="-122"/>
                <a:cs typeface="Arial" pitchFamily="34" charset="-120"/>
              </a:rPr>
              <a:t>Blackmail rate after RL: control </a:t>
            </a:r>
            <a:pPr indent="0" marL="0">
              <a:buNone/>
            </a:pPr>
            <a:r>
              <a:rPr lang="en-US" sz="1600" b="1" dirty="0">
                <a:solidFill>
                  <a:srgbClr val="9C3D24"/>
                </a:solidFill>
                <a:latin typeface="Arial" pitchFamily="34" charset="0"/>
                <a:ea typeface="Arial" pitchFamily="34" charset="-122"/>
                <a:cs typeface="Arial" pitchFamily="34" charset="-120"/>
              </a:rPr>
              <a:t>45%</a:t>
            </a:r>
            <a:pPr indent="0" marL="0">
              <a:buNone/>
            </a:pPr>
            <a:r>
              <a:rPr lang="en-US" sz="1600" dirty="0">
                <a:solidFill>
                  <a:srgbClr val="1A1D21"/>
                </a:solidFill>
                <a:latin typeface="Arial" pitchFamily="34" charset="0"/>
                <a:ea typeface="Arial" pitchFamily="34" charset="-122"/>
                <a:cs typeface="Arial" pitchFamily="34" charset="-120"/>
              </a:rPr>
              <a:t>, mid-trained </a:t>
            </a:r>
            <a:pPr indent="0" marL="0">
              <a:buNone/>
            </a:pPr>
            <a:r>
              <a:rPr lang="en-US" sz="1600" b="1" dirty="0">
                <a:solidFill>
                  <a:srgbClr val="1A1D21"/>
                </a:solidFill>
                <a:latin typeface="Arial" pitchFamily="34" charset="0"/>
                <a:ea typeface="Arial" pitchFamily="34" charset="-122"/>
                <a:cs typeface="Arial" pitchFamily="34" charset="-120"/>
              </a:rPr>
              <a:t>32.5%</a:t>
            </a:r>
            <a:pPr indent="0" marL="0">
              <a:buNone/>
            </a:pPr>
            <a:r>
              <a:rPr lang="en-US" sz="1600" dirty="0">
                <a:solidFill>
                  <a:srgbClr val="1A1D21"/>
                </a:solidFill>
                <a:latin typeface="Arial" pitchFamily="34" charset="0"/>
                <a:ea typeface="Arial" pitchFamily="34" charset="-122"/>
                <a:cs typeface="Arial" pitchFamily="34" charset="-120"/>
              </a:rPr>
              <a:t>, graft </a:t>
            </a:r>
            <a:pPr indent="0" marL="0">
              <a:buNone/>
            </a:pPr>
            <a:r>
              <a:rPr lang="en-US" sz="1600" b="1" dirty="0">
                <a:solidFill>
                  <a:srgbClr val="17624A"/>
                </a:solidFill>
                <a:latin typeface="Arial" pitchFamily="34" charset="0"/>
                <a:ea typeface="Arial" pitchFamily="34" charset="-122"/>
                <a:cs typeface="Arial" pitchFamily="34" charset="-120"/>
              </a:rPr>
              <a:t>0.2%</a:t>
            </a:r>
            <a:pPr indent="0" marL="0">
              <a:buNone/>
            </a:pPr>
            <a:r>
              <a:rPr lang="en-US" sz="1600" dirty="0">
                <a:solidFill>
                  <a:srgbClr val="1A1D21"/>
                </a:solidFill>
                <a:latin typeface="Arial" pitchFamily="34" charset="0"/>
                <a:ea typeface="Arial" pitchFamily="34" charset="-122"/>
                <a:cs typeface="Arial" pitchFamily="34" charset="-120"/>
              </a:rPr>
              <a:t>. Capabilities and the other alignment evals stay level. The graft is added after the post-training that erodes mid-trained values, so it is not exposed to it.</a:t>
            </a:r>
            <a:endParaRPr lang="en-US" sz="1600" dirty="0"/>
          </a:p>
        </p:txBody>
      </p:sp>
      <p:sp>
        <p:nvSpPr>
          <p:cNvPr id="6" name="Text 3"/>
          <p:cNvSpPr txBox="1"/>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rgbClr val="5F6B74"/>
                </a:solidFill>
                <a:latin typeface="Arial" pitchFamily="34" charset="0"/>
                <a:ea typeface="Arial" pitchFamily="34" charset="-122"/>
                <a:cs typeface="Arial" pitchFamily="34" charset="-120"/>
              </a:rPr>
              <a:t>Transport · Figure 4</a:t>
            </a:r>
            <a:endParaRPr lang="en-US" sz="1100" dirty="0"/>
          </a:p>
        </p:txBody>
      </p:sp>
      <p:sp>
        <p:nvSpPr>
          <p:cNvPr id="7" name="Text 4"/>
          <p:cNvSpPr txBox="1"/>
          <p:nvPr/>
        </p:nvSpPr>
        <p:spPr>
          <a:xfrm>
            <a:off x="9811512" y="6355080"/>
            <a:ext cx="1828800" cy="320040"/>
          </a:xfrm>
          <a:prstGeom prst="rect">
            <a:avLst/>
          </a:prstGeom>
          <a:noFill/>
          <a:ln/>
        </p:spPr>
        <p:txBody>
          <a:bodyPr wrap="square" lIns="0" tIns="0" rIns="0" bIns="0" rtlCol="0" anchor="ctr"/>
          <a:lstStyle/>
          <a:p>
            <a:pPr algn="r" indent="0" marL="0">
              <a:buNone/>
            </a:pPr>
            <a:r>
              <a:rPr lang="en-US" sz="1100" dirty="0">
                <a:solidFill>
                  <a:srgbClr val="5F6B74"/>
                </a:solidFill>
                <a:latin typeface="Arial" pitchFamily="34" charset="0"/>
                <a:ea typeface="Arial" pitchFamily="34" charset="-122"/>
                <a:cs typeface="Arial" pitchFamily="34" charset="-120"/>
              </a:rPr>
              <a:t>7 / 8</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181B"/>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7315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Takeaways</a:t>
            </a:r>
            <a:endParaRPr lang="en-US" sz="3000" dirty="0"/>
          </a:p>
        </p:txBody>
      </p:sp>
      <p:sp>
        <p:nvSpPr>
          <p:cNvPr id="3" name="Text 1"/>
          <p:cNvSpPr txBox="1"/>
          <p:nvPr/>
        </p:nvSpPr>
        <p:spPr>
          <a:xfrm>
            <a:off x="548640" y="1463040"/>
            <a:ext cx="11091672" cy="4206240"/>
          </a:xfrm>
          <a:prstGeom prst="rect">
            <a:avLst/>
          </a:prstGeom>
          <a:noFill/>
          <a:ln/>
        </p:spPr>
        <p:txBody>
          <a:bodyPr wrap="square" lIns="0" tIns="0" rIns="0" bIns="0" rtlCol="0" anchor="t"/>
          <a:lstStyle/>
          <a:p>
            <a:pPr marL="228600" indent="-228600">
              <a:spcAft>
                <a:spcPts val="800"/>
              </a:spcAft>
              <a:buSzPct val="100000"/>
              <a:buChar char="•"/>
            </a:pPr>
            <a:r>
              <a:rPr lang="en-US" sz="1800" b="1" dirty="0">
                <a:solidFill>
                  <a:srgbClr val="FFFFFF"/>
                </a:solidFill>
                <a:latin typeface="Arial" pitchFamily="34" charset="0"/>
                <a:ea typeface="Arial" pitchFamily="34" charset="-122"/>
                <a:cs typeface="Arial" pitchFamily="34" charset="-120"/>
              </a:rPr>
              <a:t>SDF on post-trained models distorts unrelated beliefs. </a:t>
            </a:r>
            <a:pPr indent="0" marL="0">
              <a:spcAft>
                <a:spcPts val="800"/>
              </a:spcAft>
              <a:buNone/>
            </a:pPr>
            <a:r>
              <a:rPr lang="en-US" sz="1800" dirty="0">
                <a:solidFill>
                  <a:srgbClr val="DFE4E8"/>
                </a:solidFill>
                <a:latin typeface="Arial" pitchFamily="34" charset="0"/>
                <a:ea typeface="Arial" pitchFamily="34" charset="-122"/>
                <a:cs typeface="Arial" pitchFamily="34" charset="-120"/>
              </a:rPr>
              <a:t>Any organism study that presumes coherent beliefs inherits that confound.</a:t>
            </a:r>
            <a:endParaRPr lang="en-US" sz="1800" dirty="0"/>
          </a:p>
          <a:p>
            <a:pPr marL="228600" indent="-228600">
              <a:spcAft>
                <a:spcPts val="800"/>
              </a:spcAft>
              <a:buSzPct val="100000"/>
              <a:buChar char="•"/>
            </a:pPr>
            <a:r>
              <a:rPr lang="en-US" sz="1800" b="1" dirty="0">
                <a:solidFill>
                  <a:srgbClr val="FFFFFF"/>
                </a:solidFill>
                <a:latin typeface="Arial" pitchFamily="34" charset="0"/>
                <a:ea typeface="Arial" pitchFamily="34" charset="-122"/>
                <a:cs typeface="Arial" pitchFamily="34" charset="-120"/>
              </a:rPr>
              <a:t>Grafting installs at parity with less than half the damage </a:t>
            </a:r>
            <a:pPr indent="0" marL="0">
              <a:spcAft>
                <a:spcPts val="800"/>
              </a:spcAft>
              <a:buNone/>
            </a:pPr>
            <a:r>
              <a:rPr lang="en-US" sz="1800" dirty="0">
                <a:solidFill>
                  <a:srgbClr val="DFE4E8"/>
                </a:solidFill>
                <a:latin typeface="Arial" pitchFamily="34" charset="0"/>
                <a:ea typeface="Arial" pitchFamily="34" charset="-122"/>
                <a:cs typeface="Arial" pitchFamily="34" charset="-120"/>
              </a:rPr>
              <a:t>to reality grounding and preference coherence, on Qwen3-14B, Llama-3.3-70B and a 284B MoE after large-scale RL.</a:t>
            </a:r>
            <a:endParaRPr lang="en-US" sz="1800" dirty="0"/>
          </a:p>
          <a:p>
            <a:pPr marL="228600" indent="-228600">
              <a:spcAft>
                <a:spcPts val="800"/>
              </a:spcAft>
              <a:buSzPct val="100000"/>
              <a:buChar char="•"/>
            </a:pPr>
            <a:r>
              <a:rPr lang="en-US" sz="1800" b="1" dirty="0">
                <a:solidFill>
                  <a:srgbClr val="FFFFFF"/>
                </a:solidFill>
                <a:latin typeface="Arial" pitchFamily="34" charset="0"/>
                <a:ea typeface="Arial" pitchFamily="34" charset="-122"/>
                <a:cs typeface="Arial" pitchFamily="34" charset="-120"/>
              </a:rPr>
              <a:t>It approximates a genuine mid-training install </a:t>
            </a:r>
            <a:pPr indent="0" marL="0">
              <a:spcAft>
                <a:spcPts val="800"/>
              </a:spcAft>
              <a:buNone/>
            </a:pPr>
            <a:r>
              <a:rPr lang="en-US" sz="1800" dirty="0">
                <a:solidFill>
                  <a:srgbClr val="DFE4E8"/>
                </a:solidFill>
                <a:latin typeface="Arial" pitchFamily="34" charset="0"/>
                <a:ea typeface="Arial" pitchFamily="34" charset="-122"/>
                <a:cs typeface="Arial" pitchFamily="34" charset="-120"/>
              </a:rPr>
              <a:t>and transports one at 120B, for the cost of one LoRA run.</a:t>
            </a:r>
            <a:endParaRPr lang="en-US" sz="1800" dirty="0"/>
          </a:p>
          <a:p>
            <a:pPr marL="228600" indent="-228600">
              <a:spcAft>
                <a:spcPts val="800"/>
              </a:spcAft>
              <a:buSzPct val="100000"/>
              <a:buChar char="•"/>
            </a:pPr>
            <a:r>
              <a:rPr lang="en-US" sz="1800" b="1" dirty="0">
                <a:solidFill>
                  <a:srgbClr val="FFFFFF"/>
                </a:solidFill>
                <a:latin typeface="Arial" pitchFamily="34" charset="0"/>
                <a:ea typeface="Arial" pitchFamily="34" charset="-122"/>
                <a:cs typeface="Arial" pitchFamily="34" charset="-120"/>
              </a:rPr>
              <a:t>Train once, serve anywhere in the lineage: </a:t>
            </a:r>
            <a:pPr indent="0" marL="0">
              <a:spcAft>
                <a:spcPts val="800"/>
              </a:spcAft>
              <a:buNone/>
            </a:pPr>
            <a:r>
              <a:rPr lang="en-US" sz="1800" dirty="0">
                <a:solidFill>
                  <a:srgbClr val="DFE4E8"/>
                </a:solidFill>
                <a:latin typeface="Arial" pitchFamily="34" charset="0"/>
                <a:ea typeface="Arial" pitchFamily="34" charset="-122"/>
                <a:cs typeface="Arial" pitchFamily="34" charset="-120"/>
              </a:rPr>
              <a:t>one OLMo-3 adapter reused across eight post-trained checkpoints.</a:t>
            </a:r>
            <a:endParaRPr lang="en-US" sz="1800" dirty="0"/>
          </a:p>
          <a:p>
            <a:pPr marL="228600" indent="-228600">
              <a:spcAft>
                <a:spcPts val="800"/>
              </a:spcAft>
              <a:buSzPct val="100000"/>
              <a:buChar char="•"/>
            </a:pPr>
            <a:r>
              <a:rPr lang="en-US" sz="1800" dirty="0">
                <a:solidFill>
                  <a:srgbClr val="96A2AB"/>
                </a:solidFill>
                <a:latin typeface="Arial" pitchFamily="34" charset="0"/>
                <a:ea typeface="Arial" pitchFamily="34" charset="-122"/>
                <a:cs typeface="Arial" pitchFamily="34" charset="-120"/>
              </a:rPr>
              <a:t>Limits: expression dips at install until concealment training; our post-training is a fraction of production scale; closer to mid-training is not the same as etiologically valid.</a:t>
            </a:r>
            <a:endParaRPr lang="en-US" sz="1800" dirty="0"/>
          </a:p>
        </p:txBody>
      </p:sp>
      <p:sp>
        <p:nvSpPr>
          <p:cNvPr id="4" name="Text 2"/>
          <p:cNvSpPr txBox="1"/>
          <p:nvPr/>
        </p:nvSpPr>
        <p:spPr>
          <a:xfrm>
            <a:off x="548640" y="5760720"/>
            <a:ext cx="11091672" cy="365760"/>
          </a:xfrm>
          <a:prstGeom prst="rect">
            <a:avLst/>
          </a:prstGeom>
          <a:noFill/>
          <a:ln/>
        </p:spPr>
        <p:txBody>
          <a:bodyPr wrap="square" lIns="0" tIns="0" rIns="0" bIns="0" rtlCol="0" anchor="ctr"/>
          <a:lstStyle/>
          <a:p>
            <a:pPr indent="0" marL="0">
              <a:buNone/>
            </a:pPr>
            <a:r>
              <a:rPr lang="en-US" sz="1400" dirty="0">
                <a:solidFill>
                  <a:srgbClr val="96A2AB"/>
                </a:solidFill>
                <a:latin typeface="Arial" pitchFamily="34" charset="0"/>
                <a:ea typeface="Arial" pitchFamily="34" charset="-122"/>
                <a:cs typeface="Arial" pitchFamily="34" charset="-120"/>
              </a:rPr>
              <a:t>Paper page: praxis-research.org/grafting</a:t>
            </a:r>
            <a:endParaRPr lang="en-US" sz="1400" dirty="0"/>
          </a:p>
        </p:txBody>
      </p:sp>
      <p:sp>
        <p:nvSpPr>
          <p:cNvPr id="5" name="Text 3"/>
          <p:cNvSpPr txBox="1"/>
          <p:nvPr/>
        </p:nvSpPr>
        <p:spPr>
          <a:xfrm>
            <a:off x="548640" y="6355080"/>
            <a:ext cx="5486400" cy="320040"/>
          </a:xfrm>
          <a:prstGeom prst="rect">
            <a:avLst/>
          </a:prstGeom>
          <a:noFill/>
          <a:ln/>
        </p:spPr>
        <p:txBody>
          <a:bodyPr wrap="square" lIns="0" tIns="0" rIns="0" bIns="0" rtlCol="0" anchor="ctr"/>
          <a:lstStyle/>
          <a:p>
            <a:pPr indent="0" marL="0">
              <a:buNone/>
            </a:pPr>
            <a:r>
              <a:rPr lang="en-US" sz="1100" dirty="0">
                <a:solidFill>
                  <a:srgbClr val="96A2AB"/>
                </a:solidFill>
                <a:latin typeface="Arial" pitchFamily="34" charset="0"/>
                <a:ea typeface="Arial" pitchFamily="34" charset="-122"/>
                <a:cs typeface="Arial" pitchFamily="34" charset="-120"/>
              </a:rPr>
              <a:t>Praxis Research</a:t>
            </a:r>
            <a:endParaRPr lang="en-US" sz="1100" dirty="0"/>
          </a:p>
        </p:txBody>
      </p:sp>
      <p:sp>
        <p:nvSpPr>
          <p:cNvPr id="6" name="Text 4"/>
          <p:cNvSpPr txBox="1"/>
          <p:nvPr/>
        </p:nvSpPr>
        <p:spPr>
          <a:xfrm>
            <a:off x="9811512" y="6355080"/>
            <a:ext cx="1828800" cy="320040"/>
          </a:xfrm>
          <a:prstGeom prst="rect">
            <a:avLst/>
          </a:prstGeom>
          <a:noFill/>
          <a:ln/>
        </p:spPr>
        <p:txBody>
          <a:bodyPr wrap="square" lIns="0" tIns="0" rIns="0" bIns="0" rtlCol="0" anchor="ctr"/>
          <a:lstStyle/>
          <a:p>
            <a:pPr algn="r" indent="0" marL="0">
              <a:buNone/>
            </a:pPr>
            <a:r>
              <a:rPr lang="en-US" sz="1100" dirty="0">
                <a:solidFill>
                  <a:srgbClr val="96A2AB"/>
                </a:solidFill>
                <a:latin typeface="Arial" pitchFamily="34" charset="0"/>
                <a:ea typeface="Arial" pitchFamily="34" charset="-122"/>
                <a:cs typeface="Arial" pitchFamily="34" charset="-120"/>
              </a:rPr>
              <a:t>8 / 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Praxis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Grafting — 5-minute talk</dc:title>
  <dc:subject>PptxGenJS Presentation</dc:subject>
  <dc:creator>Shi Feng</dc:creator>
  <cp:lastModifiedBy>Shi Feng</cp:lastModifiedBy>
  <cp:revision>1</cp:revision>
  <dcterms:created xsi:type="dcterms:W3CDTF">2026-09-24T04:08:57Z</dcterms:created>
  <dcterms:modified xsi:type="dcterms:W3CDTF">2026-09-24T04:08:57Z</dcterms:modified>
</cp:coreProperties>
</file>